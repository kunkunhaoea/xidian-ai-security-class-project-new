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577" autoAdjust="0"/>
  </p:normalViewPr>
  <p:slideViewPr>
    <p:cSldViewPr snapToGrid="0" snapToObjects="1">
      <p:cViewPr varScale="1">
        <p:scale>
          <a:sx n="74" d="100"/>
          <a:sy n="74" d="100"/>
        </p:scale>
        <p:origin x="74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23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好，今天汇报两篇关于大语言模型智能体记忆的综述。题目里的“从存储事实，到形成经验”是这次汇报的主线：智能体先要记住发生过什么，再判断这些经历是否可靠，最后才可能把它们变成以后可复用的做法。前半部分我用第一篇论文拆解记忆系统，后半部分用第二篇论文解释记忆能力的演进。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并且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在相应环节穿插真实论文中的记忆攻击与防御。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看两篇论文各回答什么问题。左边的第一篇更像一张系统设计图：记忆从哪里来，采用什么形式，怎样写入、管理和读取，以及怎样评价。右边的第二篇关注能力：智能体如何从保存轨迹，走向修正轨迹，最后从多次经历中提炼经验。这两个视角不是相互替代的。后面我会先沿着左边的设计维度展开，再用右边的三个层次重新组织这些内容。为了避免概念太抽象，先从一个订票场景进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首先我们要知道为什么需要记忆？最直接的原因是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没有状态，也就是说他每次能做的就是根据你提供的所有上下文来进行回答。</a:t>
            </a:r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页的三个框可以看成同一个旅行智能体经历的三次任务。第一次，用户说优先高铁、预算不超过五百元，智能体需要记住偏好。第二次，页面显示有票，但提交订单时库存变了，智能体需要记住动作和反馈。第三次再订票，它应先复核库存，同时准备备选车次。</a:t>
            </a:r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如果没有记忆的话，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每次都需要反复的告诉他自己的订票需求、也没有办法应对买票这种动态任务。记忆是用来解决</a:t>
            </a:r>
            <a:r>
              <a:rPr lang="en-US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没有自动持久状态的问题的。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接下来先界定“一次经历”到底包含什么。Task 是最终目标，比如订到符合偏好和预算的票。Trial 是围绕这个目标的一次完整尝试，包括查询、选择、提交和得到结果。Step 则是尝试中的一次动作及其观察。下方的轨迹符号 τ，就是把每一步的观察 o 和动作 a 按时间排起来。明确边界后，我们来看第一篇论文如何描述记忆在系统中的流动。</a:t>
            </a:r>
          </a:p>
          <a:p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请看原图</a:t>
            </a:r>
            <a:r>
              <a:rPr lang="en-US" dirty="0"/>
              <a:t>。红色 W 把交互转成记忆；绿色 P 在记忆库中持续处理；蓝色 R 为下一步行动提供信息。图右侧 Task B 还能读取来自 Task A 的跨任务记忆。记忆因此不是一次性存档，而是嵌在动作、观察、</a:t>
            </a:r>
            <a:r>
              <a:rPr lang="en-US"/>
              <a:t>再动作的循环中。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下一页用公式把这个循环压缩成三个操作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 </a:t>
            </a:r>
            <a:r>
              <a:rPr lang="en-US" dirty="0"/>
              <a:t>接收当前动作与观察，得到新记忆 m。P 把新记忆和原有记忆合成更新后的 M。R 再结合下一步上下文 c，取出要用的部分。把三个式子代入下一步行动，</a:t>
            </a:r>
            <a:r>
              <a:rPr lang="en-US"/>
              <a:t>就得到最下方的合成式。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第一行 Inside-trial 是当前尝试中的信息，例如刚才打开的订票页面；它能维持任务连续性，但观察会过期。第二行 Cross-trial 是上次售罄的失败记录；它可以避免重复犯错，也可能把旧经验误用于新情况。第三行 External knowledge 是网页、规则或工具结果，提供任务之外的知识，却带来来源可信度问题。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针对这个来源可信问题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，先看第一个攻击案例。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MINJA 的关键前提是：攻击者没有长期记忆库的直接写权限，只能像普通用户一样向智能体提问。攻击者通过诱导提示，让智能体生成错误的桥接推理，再逐步缩短明显的攻击内容，使留下的记录看起来更像正常示例。真正写入长期记忆的是智能体自己。之后受害者提交正常问题，系统检索到这条错误示例，模仿其中的推理，目标就可能被替换。这里的危险不在“黑客直接改数据库”，而在一次看似正常的交互被系统自己固化。下一页把这个流程换成具体情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这里讲的是记忆的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“来源可能被污染”，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接下来讲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下一个设计维度：记忆用什么形式保存。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本或结构化记忆容易追加、定位和纠错，但读取时要检索，还会占用上下文。参数记忆通过模型参数承载能力，使用时更紧凑，但写入通常更昂贵，出了问题也更难定位到某一条记录。以订票为例，用户偏好可能随时变化，放在可编辑记录里更合适；只有长期稳定、反复验证过的通用技能，才值得考虑内化。形式决定了纠错难度。下一页进一步看显式记忆究竟怎么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样保存保留了“页面显示有票、提交、售罄”的完整顺序，便于追溯，但噪声也多。摘要保存把它压成“余票会变化”，成本低，却可能丢掉具体发生条件。结构化保存把状态、时间、来源拆成字段，之后更容易核验。写进去之后，还要持续管理这些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四个管理方式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分别是合并、反思、遗忘和冲突处理。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比如说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：17 点页面说余三张，17 点 42 分接口说已经售罄。当前订票决策应优先使用更新、更直接的接口结果；旧页面不能继续充当实时库存。但旧记录仍有审计价值，可以解释这次失败。因此“从决策中降权”和“从系统里彻底删除”不是一回事。管理解决的是库中信息如何保持可用，下一步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就是记忆读取要检索哪些记忆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任务：“明天帮我订票”。右边三条记忆都可能和订票语义相关，但地位不同。用户给定的高铁和五百元预算，应当读取；提交前复核库存的失败教训，也可以复用。上个月某车次还剩三张，则不能当作明天的事实。这个例子说明，相似度检索只能告诉我们“像不像当前问题”，不能独自判断“现在是否仍然成立”，也不能判断来源是否可信。读取得对不对，最终还要通过评估来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这里把评估分成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两部分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左边直接看记忆模块，比如是否召回相关历史、事实是否正确、记录有没有冲突。右边间接看最终任务，比如个性化对话是否稳定、长任务能否完成，以及去掉记忆后表现如何变化。两栏必须一起看：一个系统即便最后订到了票，也可能在过程中依赖了过期页面，甚至恶意记忆。因此在安全场景里，我会额外追问“成功的依据是什么”。到这里，第一篇论文的设计维度已经梳理完。接下来换到第二篇，讨论记忆能力为什么还要演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三个研究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动力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。长期一致性要求智能体保留状态和目标，因此需要 Storage。环境变化会使旧事实失效，也会让行动出现成败反馈，因此需要 Reflection。经历不断积累后，原始轨迹太多、太杂，智能体需要从中提炼可迁移的做法，因此需要 Experience。接下来先看一个总公式，说明大量长期记忆如何进入当前决策。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全局记忆库 𝓜、当前检索到的小 mₜ，以及本步动作 aₜ。看下方公式，Retrieve 根据当前观察 oₜ，从大库中选出 mₜ；策略 π 再结合指令、观察和 mₜ 选择动作。</a:t>
            </a:r>
            <a:endParaRPr lang="zh-CN" alt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重点是“大库里存在”和“这一刻被读到”不同。被污染的记录留在库里固然危险，但要影响这一步行动，通常还需要通过检索进入上下文。先从最基础的 Storage 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 保留完整顺序，便于复盘，但越长越占上下文；Vector 便于找语义相近的经历，却需要额外处理时间和关系；Structured 用表、层级或图明确表达实体及其关系</a:t>
            </a:r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这其实对应了上一篇论文的记忆的存储形式</a:t>
            </a:r>
            <a:endParaRPr lang="zh-CN" altLang="zh-CN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Reflection 不再保留原始轨迹</a:t>
            </a:r>
            <a:r>
              <a:rPr lang="en-US" dirty="0"/>
              <a:t>，而是用评价标准 phi 对某条轨迹进行语义修正，</a:t>
            </a:r>
            <a:r>
              <a:rPr lang="en-US"/>
              <a:t>生成 m‘。</a:t>
            </a:r>
            <a:r>
              <a:rPr lang="en-US" dirty="0"/>
              <a:t>如果订票接口明确返回库存变动，那么</a:t>
            </a:r>
            <a:r>
              <a:rPr lang="en-US"/>
              <a:t>“网站展示有时滞</a:t>
            </a:r>
            <a:r>
              <a:rPr lang="zh-CN" altLang="en-US"/>
              <a:t>后</a:t>
            </a:r>
            <a:r>
              <a:rPr lang="en-US"/>
              <a:t>”</a:t>
            </a:r>
            <a:r>
              <a:rPr lang="en-US" dirty="0"/>
              <a:t>比 Agent </a:t>
            </a:r>
            <a:r>
              <a:rPr lang="en-US"/>
              <a:t>无依据猜测用户操作错误更可信。</a:t>
            </a:r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这样的反思可以改善行为，但也引出一个安全问题：如果“历史推理”本身被伪造，智能体会不会把假结论当成自己的教训？下面的 FARMA 案例就攻击这一步。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FARMA 假设攻击者能写入持久化的推理记忆。攻击者伪造类似智能体自己写下的决策日志，声称某些检查在上游已经完成；再追加相互引用的日志，让这个说法看起来像有很多历史先例。真实任务到来时，智能体召回这些记录，误以为验证已经做过，于是跳过本应执行的安全检查。下一页用电子病历导入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导入电子病历，原本应该核对 MRN，也就是病历编号，还要核对字段类型与临床范围。中间是伪造的 Agent 日志，声称“上游已全部验证”，因此“再验证不必要”。右边就是攻击希望诱导的动作：跳过检查，直接导入。这里真正起作用的是伪造的历史先例，而不是一个简单的“忽略之前指令”。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候选推理记录先经过关键词、来源和风险模式筛查，再到 Reasoning Guard 核查伪造信号。左下角的虚线提醒我们：攻击记录可以把来源字段伪装成 AGENT，所以只看标签并不可靠。Reasoning Guard 还要检查“验证已完成”的声明有没有依据，以及互相引用的日志是否异常。右侧分流表示高风险记录被拒绝写入或召回，通过的才进入上下文。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先选一组相似轨迹</a:t>
            </a:r>
            <a:r>
              <a:rPr lang="en-US" dirty="0"/>
              <a:t>，再用 F_exp 从中提取规则集合 K，并要求规则比原始轨迹集合短得多，这体现最小描述长度思路。这里不是说越短越好，</a:t>
            </a:r>
            <a:r>
              <a:rPr lang="en-US"/>
              <a:t>规则还必须保留适用条件。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</a:t>
            </a:r>
            <a:r>
              <a:rPr lang="en-US"/>
              <a:t>将跨轨迹抽象概括为多条路径</a:t>
            </a:r>
            <a:r>
              <a:rPr lang="en-US" dirty="0"/>
              <a:t>。对比归纳比较成败；动作蒸馏提取更高层的策略；代码封装让流程可执行；</a:t>
            </a:r>
            <a:r>
              <a:rPr lang="en-US"/>
              <a:t>梯度内化让模型参数吸收经验。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 主要是给内容建立索引，以便找到相似记忆；它本身并不表示模型已经学会那段经验。Latent Experience 指推理时使用的连续经验表示，通常不改模型权重。Parametric Experience 则通过更新参数内化策略，因此会改变模型后续的行为倾向。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攻击者提供含可执行代码的 README 等材料。智能体读取并执行后，持久化经验库中出现被标成 safe 或 validated 的投毒轨迹。后续正常任务通过 BM25 和向量检索取结果并集，危险经验就有机会反复进入决策上下文。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左边的正常问题是“如何验证 CSV schema”，合理做法应核对列名和类型。中间的投毒经验却建议用 dtype=str 把列都当字符串读入，再把 schema_check 标成 skipped，却仍然给这条经验贴上 safe、validated 标签。右边展示论文能直接支持的风险：这类危险步骤进入检索上下文，可能被智能体误当成成功模板。底部防线是作者提出的设计，包括真实执行结果验真、签名以及安全约束重排；原论文没有验证这些防御的效果。下一页把提案完整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这张图分为入库和读取两段。入库前，先让环境验证任务是否真的成功，再由可信组件给轨迹与结果签名，避免外部 README 自称“这是 Agent 的成功经历”。读取后，还要验签核对来源，并按安全约束重排候选经验，让“跳过检查”等危险步骤不直接进入决策上下文。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现在把两篇综述合到这张表里。横向是第二篇的 Storage、Reflection、Experience；纵向是第一篇的来源、形式和操作。比如文本既可以存原始轨迹，也可以存反思后的结论，还可以存抽象规则，所以两篇论文的分类并不冲突。最下面一行是我们的安全视角：Storage 要查来源与时效，Reflection 要核对反馈和归因，Experience 要查规则适用条件与能否回退。MINJA、FARMA 和 MemoryGraft 正好说明：能力层次越往后，错误越可能被反复利用。由此可以提出后续研究问题。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是主动记忆感知：控制器不能只问“相关吗”，还要问来源可靠吗、现在过期了吗，指标可以同时看攻击召回率和正常任务成功率。中间是工作记忆组织：污染内容一旦进入当前上下文，会持续影响多少步，何时应该撤销错误推断。右边是分布式共享记忆：一个 Agent 写下的“共识”被另一个 Agent 使用之前，能否追溯证据链。。下一页再看更长期的经验和内化问题。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左边建议给 Experience 建安全评测基准：不仅看学会了什么，也要测试少量错误轨迹会不会被抽象成错误规则，以及撤销后是否有残留。中间是多模态记忆，图像、页面文字和工具回执可能互相矛盾，摘要不能把冲突抹平。右边是终身和参数记忆，删除一条文本、回滚一个技能，与修复参数更新后的行为是不同难度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40 秒。第一篇告诉我们怎么拆解记忆系统；第二篇告诉我们不同深度的记忆能带来什么能力。对安全课来说，最重要的是错误信息随着记忆处理链被放大：先存下来，再变成错误教训，最后成为跨任务策略。一个可靠系统要能追溯证据、判断条件并修正经验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6750" y="1620292"/>
            <a:ext cx="251653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kern="0" spc="153" dirty="0">
                <a:solidFill>
                  <a:srgbClr val="C58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人工智能安全课程 · 论文汇报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66750" y="2034629"/>
            <a:ext cx="449222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5025" b="1" kern="0" spc="-10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</a:t>
            </a:r>
            <a:endParaRPr lang="en-US" sz="5025" dirty="0"/>
          </a:p>
        </p:txBody>
      </p:sp>
      <p:sp>
        <p:nvSpPr>
          <p:cNvPr id="6" name="Text 4"/>
          <p:cNvSpPr txBox="1"/>
          <p:nvPr/>
        </p:nvSpPr>
        <p:spPr>
          <a:xfrm>
            <a:off x="666750" y="2873276"/>
            <a:ext cx="399097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75" b="1" dirty="0">
                <a:solidFill>
                  <a:srgbClr val="7D8FA3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从存储事实，到形成经验</a:t>
            </a:r>
            <a:endParaRPr lang="en-US" sz="2775" dirty="0"/>
          </a:p>
        </p:txBody>
      </p:sp>
      <p:sp>
        <p:nvSpPr>
          <p:cNvPr id="7" name="Text 5"/>
          <p:cNvSpPr txBox="1"/>
          <p:nvPr/>
        </p:nvSpPr>
        <p:spPr>
          <a:xfrm>
            <a:off x="666750" y="4085183"/>
            <a:ext cx="1314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机制如何设计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2105025" y="4206627"/>
            <a:ext cx="590550" cy="19050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33700" y="4085183"/>
            <a:ext cx="1314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经验如何形成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4371975" y="4206627"/>
            <a:ext cx="590550" cy="19050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00650" y="4085183"/>
            <a:ext cx="1314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错误如何传播</a:t>
            </a:r>
            <a:endParaRPr lang="en-US" sz="1575" dirty="0"/>
          </a:p>
        </p:txBody>
      </p:sp>
      <p:sp>
        <p:nvSpPr>
          <p:cNvPr id="12" name="Text 10"/>
          <p:cNvSpPr txBox="1"/>
          <p:nvPr/>
        </p:nvSpPr>
        <p:spPr>
          <a:xfrm>
            <a:off x="666750" y="5910262"/>
            <a:ext cx="1087755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Zhang et al. </a:t>
            </a:r>
            <a:r>
              <a:rPr lang="en-US" sz="1125" i="1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Survey on the Memory Mechanism of Large Language Model based Agents</a:t>
            </a: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ACM TOIS 2025</a:t>
            </a:r>
            <a:br/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 </a:t>
            </a:r>
            <a:r>
              <a:rPr lang="en-US" sz="1125" i="1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Storage to Experience</a:t>
            </a: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Findings of ACL 2026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470698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两篇综述提供两种互补视角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760934"/>
            <a:ext cx="5343525" cy="3286125"/>
          </a:xfrm>
          <a:prstGeom prst="roundRect">
            <a:avLst>
              <a:gd name="adj" fmla="val 5797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8700" y="2113359"/>
            <a:ext cx="15573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 · Zhang et al.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28700" y="2545705"/>
            <a:ext cx="19145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系统由什么构成</a:t>
            </a:r>
            <a:endParaRPr lang="en-US" sz="2025" dirty="0"/>
          </a:p>
        </p:txBody>
      </p:sp>
      <p:sp>
        <p:nvSpPr>
          <p:cNvPr id="9" name="Text 7"/>
          <p:cNvSpPr txBox="1"/>
          <p:nvPr/>
        </p:nvSpPr>
        <p:spPr>
          <a:xfrm>
            <a:off x="1028700" y="3048149"/>
            <a:ext cx="4638675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8"/>
              </a:lnSpc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定义记忆，梳理来源、形式、操作，再讨论怎样评价记忆模块。</a:t>
            </a:r>
            <a:endParaRPr lang="en-US" sz="1425" dirty="0"/>
          </a:p>
        </p:txBody>
      </p:sp>
      <p:sp>
        <p:nvSpPr>
          <p:cNvPr id="10" name="Text 8"/>
          <p:cNvSpPr txBox="1"/>
          <p:nvPr/>
        </p:nvSpPr>
        <p:spPr>
          <a:xfrm>
            <a:off x="1028700" y="4556522"/>
            <a:ext cx="22447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/ Why / How / Evaluation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181725" y="1760934"/>
            <a:ext cx="5343525" cy="3286125"/>
          </a:xfrm>
          <a:prstGeom prst="roundRect">
            <a:avLst>
              <a:gd name="adj" fmla="val 5797"/>
            </a:avLst>
          </a:prstGeom>
          <a:solidFill>
            <a:srgbClr val="DCE3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675" y="2113359"/>
            <a:ext cx="13623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 · Luo et al.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43675" y="2545705"/>
            <a:ext cx="2686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记忆能发展出什么能力</a:t>
            </a:r>
            <a:endParaRPr lang="en-US" sz="2025" dirty="0"/>
          </a:p>
        </p:txBody>
      </p:sp>
      <p:sp>
        <p:nvSpPr>
          <p:cNvPr id="14" name="Text 12"/>
          <p:cNvSpPr txBox="1"/>
          <p:nvPr/>
        </p:nvSpPr>
        <p:spPr>
          <a:xfrm>
            <a:off x="6543675" y="3048149"/>
            <a:ext cx="4671105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8"/>
              </a:lnSpc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Storage、Reflection、Experience 组织技术演进，强调跨轨迹抽象。</a:t>
            </a:r>
            <a:endParaRPr lang="en-US" sz="1425" dirty="0"/>
          </a:p>
        </p:txBody>
      </p:sp>
      <p:sp>
        <p:nvSpPr>
          <p:cNvPr id="15" name="Text 13"/>
          <p:cNvSpPr txBox="1"/>
          <p:nvPr/>
        </p:nvSpPr>
        <p:spPr>
          <a:xfrm>
            <a:off x="6543675" y="4556522"/>
            <a:ext cx="23499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/ Reflection / Experience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7" name="Shape 15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4875" y="5975598"/>
            <a:ext cx="30289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第一篇给设计坐标，第二篇给能力层次。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317614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为什么需要记忆？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879997"/>
            <a:ext cx="3505200" cy="3048000"/>
          </a:xfrm>
          <a:prstGeom prst="roundRect">
            <a:avLst>
              <a:gd name="adj" fmla="val 5938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2025" y="2184797"/>
            <a:ext cx="9035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次任务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2025" y="2708672"/>
            <a:ext cx="11811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记住偏好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62025" y="3232547"/>
            <a:ext cx="2982885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用户说“优先高铁，预算不超过 500 元”。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962025" y="4261247"/>
            <a:ext cx="2914650" cy="9525"/>
          </a:xfrm>
          <a:prstGeom prst="rect">
            <a:avLst/>
          </a:prstGeom>
          <a:solidFill>
            <a:srgbClr val="BFC8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2025" y="4413647"/>
            <a:ext cx="1333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需要保留用户目标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9997"/>
            <a:ext cx="3505200" cy="3048000"/>
          </a:xfrm>
          <a:prstGeom prst="roundRect">
            <a:avLst>
              <a:gd name="adj" fmla="val 5938"/>
            </a:avLst>
          </a:prstGeom>
          <a:solidFill>
            <a:srgbClr val="DCE3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38675" y="2184797"/>
            <a:ext cx="9035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次任务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38675" y="2708672"/>
            <a:ext cx="11811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经历失败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638675" y="3232547"/>
            <a:ext cx="2972562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页面显示有票，但提交订单时库存已变化。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4638675" y="4261247"/>
            <a:ext cx="2914650" cy="9525"/>
          </a:xfrm>
          <a:prstGeom prst="rect">
            <a:avLst/>
          </a:prstGeom>
          <a:solidFill>
            <a:srgbClr val="BFC8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38675" y="4413647"/>
            <a:ext cx="1485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需要保留动作和反馈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20050" y="1879997"/>
            <a:ext cx="3505200" cy="3048000"/>
          </a:xfrm>
          <a:prstGeom prst="roundRect">
            <a:avLst>
              <a:gd name="adj" fmla="val 5938"/>
            </a:avLst>
          </a:prstGeom>
          <a:solidFill>
            <a:srgbClr val="EEDB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15325" y="2184797"/>
            <a:ext cx="9035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次任务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15325" y="2708672"/>
            <a:ext cx="11811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改变做法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315325" y="3232547"/>
            <a:ext cx="2972562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先复核实时库存，再推荐车次及备选方案。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8315325" y="4261247"/>
            <a:ext cx="2914650" cy="9525"/>
          </a:xfrm>
          <a:prstGeom prst="rect">
            <a:avLst/>
          </a:prstGeom>
          <a:solidFill>
            <a:srgbClr val="BFC8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15325" y="4413647"/>
            <a:ext cx="1485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需要复用失败的经验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875" y="5975598"/>
            <a:ext cx="6915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LLM没有自动持久的任务状态：从“记得发生过什么”，变成“遇到类似任务时知道怎样做”。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55377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先确定“经历”的边界：Task、Trial、Step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679972"/>
            <a:ext cx="3505200" cy="1952625"/>
          </a:xfrm>
          <a:prstGeom prst="roundRect">
            <a:avLst>
              <a:gd name="adj" fmla="val 8780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27622"/>
            <a:ext cx="89951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8172"/>
            <a:ext cx="3028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最终目标：订到符合偏好和预算的车票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79972"/>
            <a:ext cx="3505200" cy="1952625"/>
          </a:xfrm>
          <a:prstGeom prst="roundRect">
            <a:avLst>
              <a:gd name="adj" fmla="val 8780"/>
            </a:avLst>
          </a:prstGeom>
          <a:solidFill>
            <a:srgbClr val="DCE3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1050" y="1927622"/>
            <a:ext cx="923181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4591050" y="2518172"/>
            <a:ext cx="3075941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一次完整尝试：查询 → 选择 → 提交 → 结果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20050" y="1679972"/>
            <a:ext cx="3505200" cy="1952625"/>
          </a:xfrm>
          <a:prstGeom prst="roundRect">
            <a:avLst>
              <a:gd name="adj" fmla="val 8780"/>
            </a:avLst>
          </a:prstGeom>
          <a:solidFill>
            <a:srgbClr val="EEDB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67700" y="1927622"/>
            <a:ext cx="85144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8267700" y="2518172"/>
            <a:ext cx="23431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尝试中的一次动作及环境观察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6750" y="4337298"/>
            <a:ext cx="10858500" cy="790575"/>
          </a:xfrm>
          <a:prstGeom prst="roundRect">
            <a:avLst>
              <a:gd name="adj" fmla="val 15663"/>
            </a:avLst>
          </a:prstGeom>
          <a:solidFill>
            <a:srgbClr val="F0EE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25998" y="4584948"/>
            <a:ext cx="57400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一条轨迹（trial） τ = ⟨(o₁, a₁), (o₂, a₂), …, (oₜ, aₜ)⟩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8" name="Shape 16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4875" y="5975598"/>
            <a:ext cx="498440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Trial 中的历史是短程上下文；跨 Trial 的经验能支持后续任务。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247322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记忆的来源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829395"/>
            <a:ext cx="10858500" cy="3050530"/>
          </a:xfrm>
          <a:prstGeom prst="roundRect">
            <a:avLst>
              <a:gd name="adj" fmla="val 4996"/>
            </a:avLst>
          </a:prstGeom>
          <a:solidFill>
            <a:srgbClr val="FFFFFF"/>
          </a:solidFill>
          <a:ln w="9525">
            <a:solidFill>
              <a:srgbClr val="D8D3CA"/>
            </a:solidFill>
            <a:prstDash val="solid"/>
          </a:ln>
        </p:spPr>
      </p:sp>
      <p:pic>
        <p:nvPicPr>
          <p:cNvPr id="7" name="Image 0" descr="论文一中的智能体记忆写入管理读取流程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29420"/>
            <a:ext cx="10363200" cy="24288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715048" y="4553545"/>
            <a:ext cx="476190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W 为写入，P 为管理，R 为读取；跨 Trial 的记忆连接 Task A 与 Task B。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6750" y="5695950"/>
            <a:ext cx="3524250" cy="28575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2000" y="5867400"/>
            <a:ext cx="44693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2325" dirty="0"/>
          </a:p>
        </p:txBody>
      </p:sp>
      <p:sp>
        <p:nvSpPr>
          <p:cNvPr id="11" name="Text 8"/>
          <p:cNvSpPr txBox="1"/>
          <p:nvPr/>
        </p:nvSpPr>
        <p:spPr>
          <a:xfrm>
            <a:off x="1227981" y="5929313"/>
            <a:ext cx="1790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把动作与观察投影为记忆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33875" y="5695950"/>
            <a:ext cx="3524250" cy="28575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29125" y="5867400"/>
            <a:ext cx="32146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325" dirty="0"/>
          </a:p>
        </p:txBody>
      </p:sp>
      <p:sp>
        <p:nvSpPr>
          <p:cNvPr id="14" name="Text 11"/>
          <p:cNvSpPr txBox="1"/>
          <p:nvPr/>
        </p:nvSpPr>
        <p:spPr>
          <a:xfrm>
            <a:off x="4769644" y="5929313"/>
            <a:ext cx="1333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合并、更新、遗忘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01000" y="5695950"/>
            <a:ext cx="3524250" cy="28575"/>
          </a:xfrm>
          <a:prstGeom prst="rect">
            <a:avLst/>
          </a:prstGeom>
          <a:solidFill>
            <a:srgbClr val="7D8FA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96250" y="5867400"/>
            <a:ext cx="3497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325" dirty="0"/>
          </a:p>
        </p:txBody>
      </p:sp>
      <p:sp>
        <p:nvSpPr>
          <p:cNvPr id="17" name="Text 14"/>
          <p:cNvSpPr txBox="1"/>
          <p:nvPr/>
        </p:nvSpPr>
        <p:spPr>
          <a:xfrm>
            <a:off x="8465046" y="5929313"/>
            <a:ext cx="1638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提取下一步需要的信息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6750" y="6374606"/>
            <a:ext cx="17536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原图源于 Zhang et al., Figure 3(b)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535885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核心公式：W、P、R 如何合成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860947"/>
            <a:ext cx="3505200" cy="1524000"/>
          </a:xfrm>
          <a:prstGeom prst="roundRect">
            <a:avLst>
              <a:gd name="adj" fmla="val 10000"/>
            </a:avLst>
          </a:prstGeom>
          <a:solidFill>
            <a:srgbClr val="EEDB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5825" y="2099072"/>
            <a:ext cx="107260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写入W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885825" y="2541984"/>
            <a:ext cx="1828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从当前动作与反馈抽取记忆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885825" y="2889647"/>
            <a:ext cx="3067050" cy="219075"/>
          </a:xfrm>
          <a:prstGeom prst="roundRect">
            <a:avLst>
              <a:gd name="adj" fmla="val 17391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2975" y="2908697"/>
            <a:ext cx="12598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8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mₜᵏ = W({aₜᵏ, oₜᵏ})</a:t>
            </a:r>
            <a:endParaRPr lang="en-US" sz="1188" dirty="0"/>
          </a:p>
        </p:txBody>
      </p:sp>
      <p:sp>
        <p:nvSpPr>
          <p:cNvPr id="11" name="Shape 9"/>
          <p:cNvSpPr/>
          <p:nvPr/>
        </p:nvSpPr>
        <p:spPr>
          <a:xfrm>
            <a:off x="4343400" y="1860947"/>
            <a:ext cx="3505200" cy="1524000"/>
          </a:xfrm>
          <a:prstGeom prst="roundRect">
            <a:avLst>
              <a:gd name="adj" fmla="val 10000"/>
            </a:avLst>
          </a:prstGeom>
          <a:solidFill>
            <a:srgbClr val="DCE5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2475" y="2099072"/>
            <a:ext cx="9807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管理P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4562475" y="2541984"/>
            <a:ext cx="16859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新信息与旧记忆合并更新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4562475" y="2889647"/>
            <a:ext cx="3067050" cy="219075"/>
          </a:xfrm>
          <a:prstGeom prst="roundRect">
            <a:avLst>
              <a:gd name="adj" fmla="val 17391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9625" y="2908697"/>
            <a:ext cx="13236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8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Mₜᵏ = P(Mₜ₋₁ᵏ, mₜᵏ)</a:t>
            </a:r>
            <a:endParaRPr lang="en-US" sz="1188" dirty="0"/>
          </a:p>
        </p:txBody>
      </p:sp>
      <p:sp>
        <p:nvSpPr>
          <p:cNvPr id="16" name="Shape 14"/>
          <p:cNvSpPr/>
          <p:nvPr/>
        </p:nvSpPr>
        <p:spPr>
          <a:xfrm>
            <a:off x="8020050" y="1860947"/>
            <a:ext cx="3505200" cy="1524000"/>
          </a:xfrm>
          <a:prstGeom prst="roundRect">
            <a:avLst>
              <a:gd name="adj" fmla="val 10000"/>
            </a:avLst>
          </a:prstGeom>
          <a:solidFill>
            <a:srgbClr val="DCE3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39125" y="2099072"/>
            <a:ext cx="98985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读取R</a:t>
            </a:r>
            <a:endParaRPr lang="en-US" sz="1725" dirty="0"/>
          </a:p>
        </p:txBody>
      </p:sp>
      <p:sp>
        <p:nvSpPr>
          <p:cNvPr id="18" name="Text 16"/>
          <p:cNvSpPr txBox="1"/>
          <p:nvPr/>
        </p:nvSpPr>
        <p:spPr>
          <a:xfrm>
            <a:off x="8239125" y="2541984"/>
            <a:ext cx="1828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按下一步情境取出相关部分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8239125" y="2889647"/>
            <a:ext cx="3067050" cy="219075"/>
          </a:xfrm>
          <a:prstGeom prst="roundRect">
            <a:avLst>
              <a:gd name="adj" fmla="val 17391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96275" y="2908697"/>
            <a:ext cx="13486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8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M̂ₜᵏ = R(Mₜᵏ, cₜ₊₁ᵏ)</a:t>
            </a:r>
            <a:endParaRPr lang="en-US" sz="1188" dirty="0"/>
          </a:p>
        </p:txBody>
      </p:sp>
      <p:sp>
        <p:nvSpPr>
          <p:cNvPr id="21" name="Shape 19"/>
          <p:cNvSpPr/>
          <p:nvPr/>
        </p:nvSpPr>
        <p:spPr>
          <a:xfrm>
            <a:off x="666750" y="4251573"/>
            <a:ext cx="10858500" cy="695325"/>
          </a:xfrm>
          <a:prstGeom prst="roundRect">
            <a:avLst>
              <a:gd name="adj" fmla="val 17808"/>
            </a:avLst>
          </a:prstGeom>
          <a:solidFill>
            <a:srgbClr val="F3EFE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42866" y="4489698"/>
            <a:ext cx="49062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因此 aₜ₊₁ᵏ = LLM{ R( P(Mₜ₋₁ᵏ, W({aₜᵏ, oₜᵏ})), cₜ₊₁ᵏ ) }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24" name="Shape 22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4875" y="5975598"/>
            <a:ext cx="454580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推导顺序：当前交互 → 写入 → 管理 → 读取 → 下一步行动。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83118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记忆来源：同次经历、跨次经历、外部知识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899047"/>
            <a:ext cx="10858500" cy="3009900"/>
          </a:xfrm>
          <a:prstGeom prst="roundRect">
            <a:avLst>
              <a:gd name="adj" fmla="val 4747"/>
            </a:avLst>
          </a:prstGeom>
          <a:noFill/>
          <a:ln w="9525">
            <a:solidFill>
              <a:srgbClr val="D8D3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275" y="1908572"/>
            <a:ext cx="10839450" cy="561975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8" name="Shape 6"/>
          <p:cNvSpPr/>
          <p:nvPr/>
        </p:nvSpPr>
        <p:spPr>
          <a:xfrm>
            <a:off x="676275" y="2461022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9" name="Shape 7"/>
          <p:cNvSpPr/>
          <p:nvPr/>
        </p:nvSpPr>
        <p:spPr>
          <a:xfrm>
            <a:off x="2924919" y="1908572"/>
            <a:ext cx="9525" cy="55245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7250" y="2075557"/>
            <a:ext cx="438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6199287" y="1908572"/>
            <a:ext cx="9525" cy="55245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5419" y="2075557"/>
            <a:ext cx="762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订票案例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9135070" y="1908572"/>
            <a:ext cx="9525" cy="55245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89787" y="2075557"/>
            <a:ext cx="762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主要作用</a:t>
            </a:r>
            <a:endParaRPr lang="en-US" sz="1275" dirty="0"/>
          </a:p>
        </p:txBody>
      </p:sp>
      <p:sp>
        <p:nvSpPr>
          <p:cNvPr id="15" name="Text 13"/>
          <p:cNvSpPr txBox="1"/>
          <p:nvPr/>
        </p:nvSpPr>
        <p:spPr>
          <a:xfrm>
            <a:off x="9325570" y="2075557"/>
            <a:ext cx="762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76275" y="3270647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4919" y="2470547"/>
            <a:ext cx="9525" cy="8001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7250" y="2761357"/>
            <a:ext cx="94312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Inside-trial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6199287" y="2470547"/>
            <a:ext cx="9525" cy="8001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115419" y="2761357"/>
            <a:ext cx="1733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当前页面和刚才的查询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9135070" y="2470547"/>
            <a:ext cx="9525" cy="8001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9787" y="2761357"/>
            <a:ext cx="14097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保持当前任务连续</a:t>
            </a:r>
            <a:endParaRPr lang="en-US" sz="1275" dirty="0"/>
          </a:p>
        </p:txBody>
      </p:sp>
      <p:sp>
        <p:nvSpPr>
          <p:cNvPr id="23" name="Text 21"/>
          <p:cNvSpPr txBox="1"/>
          <p:nvPr/>
        </p:nvSpPr>
        <p:spPr>
          <a:xfrm>
            <a:off x="9325570" y="2761357"/>
            <a:ext cx="1085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观察可能过期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676275" y="3280172"/>
            <a:ext cx="10839450" cy="809625"/>
          </a:xfrm>
          <a:prstGeom prst="rect">
            <a:avLst/>
          </a:prstGeom>
          <a:solidFill>
            <a:srgbClr val="F1EEE8"/>
          </a:solidFill>
          <a:ln/>
        </p:spPr>
      </p:sp>
      <p:sp>
        <p:nvSpPr>
          <p:cNvPr id="25" name="Shape 23"/>
          <p:cNvSpPr/>
          <p:nvPr/>
        </p:nvSpPr>
        <p:spPr>
          <a:xfrm>
            <a:off x="676275" y="4080272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4919" y="3280172"/>
            <a:ext cx="9525" cy="8001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7250" y="3570982"/>
            <a:ext cx="9029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Cross-trial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6199287" y="3280172"/>
            <a:ext cx="9525" cy="8001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115419" y="3570982"/>
            <a:ext cx="1571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上次售罄的失败记录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9135070" y="3280172"/>
            <a:ext cx="9525" cy="8001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89787" y="3570982"/>
            <a:ext cx="1085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避免重复失败</a:t>
            </a:r>
            <a:endParaRPr lang="en-US" sz="1275" dirty="0"/>
          </a:p>
        </p:txBody>
      </p:sp>
      <p:sp>
        <p:nvSpPr>
          <p:cNvPr id="32" name="Text 30"/>
          <p:cNvSpPr txBox="1"/>
          <p:nvPr/>
        </p:nvSpPr>
        <p:spPr>
          <a:xfrm>
            <a:off x="9325570" y="3570982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旧经验被误套用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2924919" y="4089797"/>
            <a:ext cx="9525" cy="8096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7250" y="4385370"/>
            <a:ext cx="16308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knowledge</a:t>
            </a:r>
            <a:endParaRPr lang="en-US" sz="1275" dirty="0"/>
          </a:p>
        </p:txBody>
      </p:sp>
      <p:sp>
        <p:nvSpPr>
          <p:cNvPr id="35" name="Shape 33"/>
          <p:cNvSpPr/>
          <p:nvPr/>
        </p:nvSpPr>
        <p:spPr>
          <a:xfrm>
            <a:off x="6199287" y="4089797"/>
            <a:ext cx="9525" cy="8096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115419" y="4385370"/>
            <a:ext cx="2057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车站规则、网页和工具结果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135070" y="4089797"/>
            <a:ext cx="9525" cy="8096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89787" y="4385370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补足任务外知识</a:t>
            </a:r>
            <a:endParaRPr lang="en-US" sz="1275" dirty="0"/>
          </a:p>
        </p:txBody>
      </p:sp>
      <p:sp>
        <p:nvSpPr>
          <p:cNvPr id="39" name="Text 37"/>
          <p:cNvSpPr txBox="1"/>
          <p:nvPr/>
        </p:nvSpPr>
        <p:spPr>
          <a:xfrm>
            <a:off x="9325570" y="4385370"/>
            <a:ext cx="923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来源不可信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41" name="Shape 39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04875" y="5975598"/>
            <a:ext cx="630569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Cross-trial支持自我改进；External knowledge进入记忆时需要明确来源和权限边界。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801900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安全案例一：MINJA 如何经普通查询污染记忆</a:t>
            </a:r>
            <a:endParaRPr lang="en-US" sz="3075" dirty="0"/>
          </a:p>
        </p:txBody>
      </p:sp>
      <p:pic>
        <p:nvPicPr>
          <p:cNvPr id="6" name="Image 0" descr="Rendered as an image because of CSS foreign-ob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70" y="2596604"/>
            <a:ext cx="9669512" cy="18529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5842248"/>
            <a:ext cx="10858500" cy="50140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8" name="Shape 5"/>
          <p:cNvSpPr/>
          <p:nvPr/>
        </p:nvSpPr>
        <p:spPr>
          <a:xfrm>
            <a:off x="666750" y="5842248"/>
            <a:ext cx="47625" cy="501402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04875" y="5985123"/>
            <a:ext cx="59755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关键边界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攻击者没有记忆库写权限；Agent 在正常交互中自行写下了错误示例。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66750" y="6374606"/>
            <a:ext cx="54822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攻击图依据 Dong et al., MINJA, NeurIPS 2025, Figure 1 与 Section 4 重绘；https://arxiv.org/html/2503.03704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3824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具体例子①：查询患者 A，却读到了患者 B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287786"/>
            <a:ext cx="3492401" cy="2476500"/>
          </a:xfrm>
          <a:prstGeom prst="roundRect">
            <a:avLst>
              <a:gd name="adj" fmla="val 6923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44961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真实请求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11116"/>
            <a:ext cx="3016151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32"/>
              </a:lnSpc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“查看患者 A 的用药记录”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8156"/>
            <a:ext cx="103792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目标身份：A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349651" y="2287786"/>
            <a:ext cx="3492550" cy="2476500"/>
          </a:xfrm>
          <a:prstGeom prst="roundRect">
            <a:avLst>
              <a:gd name="adj" fmla="val 6923"/>
            </a:avLst>
          </a:prstGeom>
          <a:solidFill>
            <a:srgbClr val="EED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7301" y="2544961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被污染的记忆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97301" y="3211116"/>
            <a:ext cx="3016300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32"/>
              </a:lnSpc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“A 的资料保存在 B 名下”</a:t>
            </a:r>
            <a:endParaRPr lang="en-US" sz="1950" dirty="0"/>
          </a:p>
        </p:txBody>
      </p:sp>
      <p:sp>
        <p:nvSpPr>
          <p:cNvPr id="13" name="Text 11"/>
          <p:cNvSpPr txBox="1"/>
          <p:nvPr/>
        </p:nvSpPr>
        <p:spPr>
          <a:xfrm>
            <a:off x="4597301" y="4298156"/>
            <a:ext cx="213702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Agent 在先前交互中写入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8032700" y="2287786"/>
            <a:ext cx="3492401" cy="2476500"/>
          </a:xfrm>
          <a:prstGeom prst="roundRect">
            <a:avLst>
              <a:gd name="adj" fmla="val 6923"/>
            </a:avLst>
          </a:prstGeom>
          <a:solidFill>
            <a:srgbClr val="DCE3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80350" y="2544961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后续错误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80350" y="3378250"/>
            <a:ext cx="28198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B → 回答 A 的问题</a:t>
            </a:r>
            <a:endParaRPr lang="en-US" sz="1950" dirty="0"/>
          </a:p>
        </p:txBody>
      </p:sp>
      <p:sp>
        <p:nvSpPr>
          <p:cNvPr id="17" name="Text 15"/>
          <p:cNvSpPr txBox="1"/>
          <p:nvPr/>
        </p:nvSpPr>
        <p:spPr>
          <a:xfrm>
            <a:off x="8280350" y="4298156"/>
            <a:ext cx="1571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身份映射被悄悄替换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66750" y="5676900"/>
            <a:ext cx="10858500" cy="666750"/>
          </a:xfrm>
          <a:prstGeom prst="roundRect">
            <a:avLst>
              <a:gd name="adj" fmla="val 17143"/>
            </a:avLst>
          </a:prstGeom>
          <a:solidFill>
            <a:srgbClr val="F3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750" y="5676900"/>
            <a:ext cx="10858500" cy="28575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02087" y="5905500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防线落点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35537" y="5905500"/>
            <a:ext cx="1657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写入时审查可疑映射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50037" y="590550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92937" y="5905500"/>
            <a:ext cx="211127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读取时核对患者 ID 与来源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66750" y="6374606"/>
            <a:ext cx="75784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情境依据 MINJA 的 patient A/B 桥接示例改写；防线依据 Sunil et al.，非同一实验。https://arxiv.org/html/2503.03704 · https://arxiv.org/html/2601.05504</a:t>
            </a:r>
            <a:endParaRPr lang="en-US" sz="825" dirty="0"/>
          </a:p>
        </p:txBody>
      </p:sp>
      <p:sp>
        <p:nvSpPr>
          <p:cNvPr id="25" name="Text 23"/>
          <p:cNvSpPr txBox="1"/>
          <p:nvPr/>
        </p:nvSpPr>
        <p:spPr>
          <a:xfrm>
            <a:off x="4121048" y="3352652"/>
            <a:ext cx="3714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25" dirty="0"/>
          </a:p>
        </p:txBody>
      </p:sp>
      <p:sp>
        <p:nvSpPr>
          <p:cNvPr id="26" name="Text 24"/>
          <p:cNvSpPr txBox="1"/>
          <p:nvPr/>
        </p:nvSpPr>
        <p:spPr>
          <a:xfrm>
            <a:off x="7804102" y="3352652"/>
            <a:ext cx="3714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55349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记忆形式：文本与参数的取舍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641872"/>
            <a:ext cx="10858500" cy="3524250"/>
          </a:xfrm>
          <a:prstGeom prst="roundRect">
            <a:avLst>
              <a:gd name="adj" fmla="val 4054"/>
            </a:avLst>
          </a:prstGeom>
          <a:noFill/>
          <a:ln w="9525">
            <a:solidFill>
              <a:srgbClr val="D8D3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275" y="1651397"/>
            <a:ext cx="10839450" cy="876300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8" name="Shape 6"/>
          <p:cNvSpPr/>
          <p:nvPr/>
        </p:nvSpPr>
        <p:spPr>
          <a:xfrm>
            <a:off x="676275" y="2518172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9" name="Shape 7"/>
          <p:cNvSpPr/>
          <p:nvPr/>
        </p:nvSpPr>
        <p:spPr>
          <a:xfrm>
            <a:off x="2948732" y="1651397"/>
            <a:ext cx="9525" cy="86677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7250" y="1975545"/>
            <a:ext cx="438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7227391" y="1651397"/>
            <a:ext cx="9525" cy="86677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39232" y="1975545"/>
            <a:ext cx="142086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/ 结构化记忆</a:t>
            </a:r>
            <a:endParaRPr lang="en-US" sz="1275" dirty="0"/>
          </a:p>
        </p:txBody>
      </p:sp>
      <p:sp>
        <p:nvSpPr>
          <p:cNvPr id="13" name="Text 11"/>
          <p:cNvSpPr txBox="1"/>
          <p:nvPr/>
        </p:nvSpPr>
        <p:spPr>
          <a:xfrm>
            <a:off x="7417891" y="1975545"/>
            <a:ext cx="762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参数记忆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676275" y="3394472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5" name="Shape 13"/>
          <p:cNvSpPr/>
          <p:nvPr/>
        </p:nvSpPr>
        <p:spPr>
          <a:xfrm>
            <a:off x="2948732" y="2527697"/>
            <a:ext cx="9525" cy="86677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7250" y="2851845"/>
            <a:ext cx="438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7227391" y="2527697"/>
            <a:ext cx="9525" cy="86677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139232" y="2851845"/>
            <a:ext cx="18954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追加、摘要、更新较直接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7417891" y="2851845"/>
            <a:ext cx="2057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微调或编辑参数，成本较高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76275" y="3403997"/>
            <a:ext cx="10839450" cy="876300"/>
          </a:xfrm>
          <a:prstGeom prst="rect">
            <a:avLst/>
          </a:prstGeom>
          <a:solidFill>
            <a:srgbClr val="F1EEE8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275" y="4270772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48732" y="3403997"/>
            <a:ext cx="9525" cy="86677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7250" y="3728145"/>
            <a:ext cx="438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7227391" y="3403997"/>
            <a:ext cx="9525" cy="86677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139232" y="3728145"/>
            <a:ext cx="1733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需要检索与上下文空间</a:t>
            </a:r>
            <a:endParaRPr lang="en-US" sz="1275" dirty="0"/>
          </a:p>
        </p:txBody>
      </p:sp>
      <p:sp>
        <p:nvSpPr>
          <p:cNvPr id="26" name="Text 24"/>
          <p:cNvSpPr txBox="1"/>
          <p:nvPr/>
        </p:nvSpPr>
        <p:spPr>
          <a:xfrm>
            <a:off x="7417891" y="3728145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能力已在模型内部，推理时更紧凑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2948732" y="4280297"/>
            <a:ext cx="9525" cy="8763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7250" y="4609207"/>
            <a:ext cx="762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检查纠错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7227391" y="4280297"/>
            <a:ext cx="9525" cy="8763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139232" y="4609207"/>
            <a:ext cx="1733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可定位具体记录与来源</a:t>
            </a:r>
            <a:endParaRPr lang="en-US" sz="1275" dirty="0"/>
          </a:p>
        </p:txBody>
      </p:sp>
      <p:sp>
        <p:nvSpPr>
          <p:cNvPr id="31" name="Text 29"/>
          <p:cNvSpPr txBox="1"/>
          <p:nvPr/>
        </p:nvSpPr>
        <p:spPr>
          <a:xfrm>
            <a:off x="7417891" y="4609207"/>
            <a:ext cx="2381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影响分散，可解释性和回退较难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3" name="Shape 31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4875" y="5975598"/>
            <a:ext cx="48101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订票偏好可显式存储；长期稳定的通用技能才更适合考虑参数化。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4485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记忆写入：原样保存、摘要与结构化记录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903809"/>
            <a:ext cx="3505200" cy="3000375"/>
          </a:xfrm>
          <a:prstGeom prst="roundRect">
            <a:avLst>
              <a:gd name="adj" fmla="val 5397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23925" y="2151459"/>
            <a:ext cx="990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原样保存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923925" y="2607618"/>
            <a:ext cx="300990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保留完整动作和页面反馈，便于追溯；代价是冗长、噪声多。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23925" y="3357414"/>
            <a:ext cx="2990850" cy="264468"/>
          </a:xfrm>
          <a:prstGeom prst="roundRect">
            <a:avLst>
              <a:gd name="adj" fmla="val 14406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1075" y="3395514"/>
            <a:ext cx="18491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8" dirty="0">
                <a:solidFill>
                  <a:srgbClr val="715F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“有票” → 下单 → “售罄”</a:t>
            </a:r>
            <a:endParaRPr lang="en-US" sz="1188" dirty="0"/>
          </a:p>
        </p:txBody>
      </p:sp>
      <p:sp>
        <p:nvSpPr>
          <p:cNvPr id="11" name="Shape 9"/>
          <p:cNvSpPr/>
          <p:nvPr/>
        </p:nvSpPr>
        <p:spPr>
          <a:xfrm>
            <a:off x="4343400" y="1903809"/>
            <a:ext cx="3505200" cy="3000375"/>
          </a:xfrm>
          <a:prstGeom prst="roundRect">
            <a:avLst>
              <a:gd name="adj" fmla="val 5397"/>
            </a:avLst>
          </a:prstGeom>
          <a:solidFill>
            <a:srgbClr val="DCE3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0575" y="2151459"/>
            <a:ext cx="990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摘要保存</a:t>
            </a:r>
            <a:endParaRPr lang="en-US" sz="1725" dirty="0"/>
          </a:p>
        </p:txBody>
      </p:sp>
      <p:sp>
        <p:nvSpPr>
          <p:cNvPr id="13" name="Text 11"/>
          <p:cNvSpPr txBox="1"/>
          <p:nvPr/>
        </p:nvSpPr>
        <p:spPr>
          <a:xfrm>
            <a:off x="4600575" y="2607618"/>
            <a:ext cx="300990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提取失败原因或重要信息，降低上下文开销；可能丢失条件。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00575" y="3357414"/>
            <a:ext cx="2990850" cy="264468"/>
          </a:xfrm>
          <a:prstGeom prst="roundRect">
            <a:avLst>
              <a:gd name="adj" fmla="val 14406"/>
            </a:avLst>
          </a:prstGeom>
          <a:solidFill>
            <a:srgbClr val="F5F5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57725" y="3395514"/>
            <a:ext cx="103465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8" dirty="0">
                <a:solidFill>
                  <a:srgbClr val="715F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“余票会变化”</a:t>
            </a:r>
            <a:endParaRPr lang="en-US" sz="1188" dirty="0"/>
          </a:p>
        </p:txBody>
      </p:sp>
      <p:sp>
        <p:nvSpPr>
          <p:cNvPr id="16" name="Shape 14"/>
          <p:cNvSpPr/>
          <p:nvPr/>
        </p:nvSpPr>
        <p:spPr>
          <a:xfrm>
            <a:off x="8020050" y="1903809"/>
            <a:ext cx="3505200" cy="3000375"/>
          </a:xfrm>
          <a:prstGeom prst="roundRect">
            <a:avLst>
              <a:gd name="adj" fmla="val 5397"/>
            </a:avLst>
          </a:prstGeom>
          <a:solidFill>
            <a:srgbClr val="EEDBD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7225" y="2151459"/>
            <a:ext cx="12096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结构化保存</a:t>
            </a:r>
            <a:endParaRPr lang="en-US" sz="1725" dirty="0"/>
          </a:p>
        </p:txBody>
      </p:sp>
      <p:sp>
        <p:nvSpPr>
          <p:cNvPr id="18" name="Text 16"/>
          <p:cNvSpPr txBox="1"/>
          <p:nvPr/>
        </p:nvSpPr>
        <p:spPr>
          <a:xfrm>
            <a:off x="8277225" y="2607618"/>
            <a:ext cx="300990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把车次、时间、来源、结果分字段，便于检索和核验。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77225" y="3357414"/>
            <a:ext cx="2990850" cy="264468"/>
          </a:xfrm>
          <a:prstGeom prst="roundRect">
            <a:avLst>
              <a:gd name="adj" fmla="val 14406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34375" y="3395514"/>
            <a:ext cx="17511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88" dirty="0">
                <a:solidFill>
                  <a:srgbClr val="715F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状态=售罄；时间=17:42</a:t>
            </a:r>
            <a:endParaRPr lang="en-US" sz="1188" dirty="0"/>
          </a:p>
        </p:txBody>
      </p:sp>
      <p:sp>
        <p:nvSpPr>
          <p:cNvPr id="21" name="Shape 19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4875" y="5975598"/>
            <a:ext cx="43243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写入策略要保留“事实、时间、来源、推断”之间的区别。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4485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记忆管理：合并、反思、遗忘、解决冲突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300" y="2429917"/>
            <a:ext cx="571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76300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把多条相似记录压缩，减少冗余。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424238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DCE3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3787" y="2429917"/>
            <a:ext cx="571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33787" y="2963317"/>
            <a:ext cx="22193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根据动作与反馈提炼新结论。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6181725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EEDB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1275" y="2429917"/>
            <a:ext cx="5715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遗忘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91275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删除过期、无关或低价值信息。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8939213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E9E2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8762" y="2429917"/>
            <a:ext cx="1028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48762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在旧余票与新库存间选择可信、更新的记录。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66750" y="5751612"/>
            <a:ext cx="10858500" cy="592038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750" y="5751612"/>
            <a:ext cx="10858500" cy="28575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7250" y="5951637"/>
            <a:ext cx="889724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具体例子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17:00 页面“余 3 张”与 17:42 接口“已售罄”冲突；当前决策应优先使用后者，同时保留前者用于解释失败。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83118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记忆读取：相关性不能替代时效性与可信度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975247"/>
            <a:ext cx="3555950" cy="2857500"/>
          </a:xfrm>
          <a:prstGeom prst="roundRect">
            <a:avLst>
              <a:gd name="adj" fmla="val 6000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23925" y="2270522"/>
            <a:ext cx="685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当前任务</a:t>
            </a:r>
            <a:endParaRPr lang="en-US" sz="1125" dirty="0"/>
          </a:p>
        </p:txBody>
      </p:sp>
      <p:sp>
        <p:nvSpPr>
          <p:cNvPr id="8" name="Text 6"/>
          <p:cNvSpPr txBox="1"/>
          <p:nvPr/>
        </p:nvSpPr>
        <p:spPr>
          <a:xfrm>
            <a:off x="923925" y="2769543"/>
            <a:ext cx="2171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“明天帮我订票”</a:t>
            </a:r>
            <a:endParaRPr lang="en-US" sz="2025" dirty="0"/>
          </a:p>
        </p:txBody>
      </p:sp>
      <p:sp>
        <p:nvSpPr>
          <p:cNvPr id="9" name="Text 7"/>
          <p:cNvSpPr txBox="1"/>
          <p:nvPr/>
        </p:nvSpPr>
        <p:spPr>
          <a:xfrm>
            <a:off x="923925" y="3336280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需要预算偏好、可用车次和失败教训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3200" y="1975247"/>
            <a:ext cx="7112050" cy="638175"/>
          </a:xfrm>
          <a:prstGeom prst="roundRect">
            <a:avLst>
              <a:gd name="adj" fmla="val 19403"/>
            </a:avLst>
          </a:prstGeom>
          <a:solidFill>
            <a:srgbClr val="DCE3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32275" y="2175272"/>
            <a:ext cx="21563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用户偏好：高铁，≤500 元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261699" y="2203847"/>
            <a:ext cx="11587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应读取 · 用户给定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3200" y="2737247"/>
            <a:ext cx="7112050" cy="638175"/>
          </a:xfrm>
          <a:prstGeom prst="roundRect">
            <a:avLst>
              <a:gd name="adj" fmla="val 19403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32275" y="2937272"/>
            <a:ext cx="2171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失败经验：提交前复核库存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261699" y="2965847"/>
            <a:ext cx="11587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应读取 · 跨次可用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13200" y="3499247"/>
            <a:ext cx="7112050" cy="638175"/>
          </a:xfrm>
          <a:prstGeom prst="roundRect">
            <a:avLst>
              <a:gd name="adj" fmla="val 19403"/>
            </a:avLst>
          </a:prstGeom>
          <a:solidFill>
            <a:srgbClr val="EEDBD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32275" y="3699272"/>
            <a:ext cx="20367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上月页面：某车次余 3 张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994999" y="3727847"/>
            <a:ext cx="14254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不作当前事实 · 已失效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4875" y="5975598"/>
            <a:ext cx="56197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原论文讨论相似度、时间与重要性等检索依据；安全场景还要核验来源权限。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859661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记忆评估：记忆模块正确，不等于任务一定成功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760934"/>
            <a:ext cx="5343525" cy="3286125"/>
          </a:xfrm>
          <a:prstGeom prst="roundRect">
            <a:avLst>
              <a:gd name="adj" fmla="val 5797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8700" y="2294334"/>
            <a:ext cx="1657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直接评价记忆</a:t>
            </a:r>
            <a:endParaRPr lang="en-US" sz="2025" dirty="0"/>
          </a:p>
        </p:txBody>
      </p:sp>
      <p:sp>
        <p:nvSpPr>
          <p:cNvPr id="8" name="Text 6"/>
          <p:cNvSpPr txBox="1"/>
          <p:nvPr/>
        </p:nvSpPr>
        <p:spPr>
          <a:xfrm>
            <a:off x="1239113" y="2777728"/>
            <a:ext cx="33147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425" dirty="0"/>
          </a:p>
        </p:txBody>
      </p:sp>
      <p:sp>
        <p:nvSpPr>
          <p:cNvPr id="9" name="Text 7"/>
          <p:cNvSpPr txBox="1"/>
          <p:nvPr/>
        </p:nvSpPr>
        <p:spPr>
          <a:xfrm>
            <a:off x="1492448" y="2796778"/>
            <a:ext cx="19240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检索是否找到相关历史</a:t>
            </a:r>
            <a:endParaRPr lang="en-US" sz="1425" dirty="0"/>
          </a:p>
        </p:txBody>
      </p:sp>
      <p:sp>
        <p:nvSpPr>
          <p:cNvPr id="10" name="Text 8"/>
          <p:cNvSpPr txBox="1"/>
          <p:nvPr/>
        </p:nvSpPr>
        <p:spPr>
          <a:xfrm>
            <a:off x="1239113" y="3172420"/>
            <a:ext cx="33147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425" dirty="0"/>
          </a:p>
        </p:txBody>
      </p:sp>
      <p:sp>
        <p:nvSpPr>
          <p:cNvPr id="11" name="Text 9"/>
          <p:cNvSpPr txBox="1"/>
          <p:nvPr/>
        </p:nvSpPr>
        <p:spPr>
          <a:xfrm>
            <a:off x="1492448" y="3191470"/>
            <a:ext cx="21050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问答是否能还原正确事实</a:t>
            </a:r>
            <a:endParaRPr lang="en-US" sz="1425" dirty="0"/>
          </a:p>
        </p:txBody>
      </p:sp>
      <p:sp>
        <p:nvSpPr>
          <p:cNvPr id="12" name="Text 10"/>
          <p:cNvSpPr txBox="1"/>
          <p:nvPr/>
        </p:nvSpPr>
        <p:spPr>
          <a:xfrm>
            <a:off x="1239113" y="3567113"/>
            <a:ext cx="33147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425" dirty="0"/>
          </a:p>
        </p:txBody>
      </p:sp>
      <p:sp>
        <p:nvSpPr>
          <p:cNvPr id="13" name="Text 11"/>
          <p:cNvSpPr txBox="1"/>
          <p:nvPr/>
        </p:nvSpPr>
        <p:spPr>
          <a:xfrm>
            <a:off x="1492448" y="3586163"/>
            <a:ext cx="21050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记录之间是否一致、合理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6181725" y="1760934"/>
            <a:ext cx="5343525" cy="3286125"/>
          </a:xfrm>
          <a:prstGeom prst="roundRect">
            <a:avLst>
              <a:gd name="adj" fmla="val 5797"/>
            </a:avLst>
          </a:prstGeom>
          <a:solidFill>
            <a:srgbClr val="DCE3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43675" y="2294334"/>
            <a:ext cx="16573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间接评价任务</a:t>
            </a:r>
            <a:endParaRPr lang="en-US" sz="2025" dirty="0"/>
          </a:p>
        </p:txBody>
      </p:sp>
      <p:sp>
        <p:nvSpPr>
          <p:cNvPr id="16" name="Text 14"/>
          <p:cNvSpPr txBox="1"/>
          <p:nvPr/>
        </p:nvSpPr>
        <p:spPr>
          <a:xfrm>
            <a:off x="6754088" y="2777728"/>
            <a:ext cx="33147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425" dirty="0"/>
          </a:p>
        </p:txBody>
      </p:sp>
      <p:sp>
        <p:nvSpPr>
          <p:cNvPr id="17" name="Text 15"/>
          <p:cNvSpPr txBox="1"/>
          <p:nvPr/>
        </p:nvSpPr>
        <p:spPr>
          <a:xfrm>
            <a:off x="7007423" y="2796778"/>
            <a:ext cx="17430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个性化对话是否稳定</a:t>
            </a:r>
            <a:endParaRPr lang="en-US" sz="1425" dirty="0"/>
          </a:p>
        </p:txBody>
      </p:sp>
      <p:sp>
        <p:nvSpPr>
          <p:cNvPr id="18" name="Text 16"/>
          <p:cNvSpPr txBox="1"/>
          <p:nvPr/>
        </p:nvSpPr>
        <p:spPr>
          <a:xfrm>
            <a:off x="6754088" y="3172420"/>
            <a:ext cx="33147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425" dirty="0"/>
          </a:p>
        </p:txBody>
      </p:sp>
      <p:sp>
        <p:nvSpPr>
          <p:cNvPr id="19" name="Text 17"/>
          <p:cNvSpPr txBox="1"/>
          <p:nvPr/>
        </p:nvSpPr>
        <p:spPr>
          <a:xfrm>
            <a:off x="7007423" y="3191470"/>
            <a:ext cx="15621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多源问答是否正确</a:t>
            </a:r>
            <a:endParaRPr lang="en-US" sz="1425" dirty="0"/>
          </a:p>
        </p:txBody>
      </p:sp>
      <p:sp>
        <p:nvSpPr>
          <p:cNvPr id="20" name="Text 18"/>
          <p:cNvSpPr txBox="1"/>
          <p:nvPr/>
        </p:nvSpPr>
        <p:spPr>
          <a:xfrm>
            <a:off x="6754088" y="3567113"/>
            <a:ext cx="33147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425" dirty="0"/>
          </a:p>
        </p:txBody>
      </p:sp>
      <p:sp>
        <p:nvSpPr>
          <p:cNvPr id="21" name="Text 19"/>
          <p:cNvSpPr txBox="1"/>
          <p:nvPr/>
        </p:nvSpPr>
        <p:spPr>
          <a:xfrm>
            <a:off x="7007423" y="3586163"/>
            <a:ext cx="31908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长任务是否完成，消融记忆后如何变化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23" name="Shape 21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4875" y="5975598"/>
            <a:ext cx="5457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：再测“成功是否依赖失效或恶意记忆”，避免只看最终成功率。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66204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第二篇：为什么记忆能力还要继续发展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070497"/>
            <a:ext cx="3505200" cy="2667000"/>
          </a:xfrm>
          <a:prstGeom prst="roundRect">
            <a:avLst>
              <a:gd name="adj" fmla="val 6071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3450" y="2356247"/>
            <a:ext cx="1352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长期一致性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933450" y="3022997"/>
            <a:ext cx="19240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跨步骤保持状态与目标</a:t>
            </a:r>
            <a:endParaRPr lang="en-US" sz="1425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4251722"/>
            <a:ext cx="102572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 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070497"/>
            <a:ext cx="3505200" cy="2667000"/>
          </a:xfrm>
          <a:prstGeom prst="roundRect">
            <a:avLst>
              <a:gd name="adj" fmla="val 6071"/>
            </a:avLst>
          </a:prstGeom>
          <a:solidFill>
            <a:srgbClr val="DCE3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0100" y="2356247"/>
            <a:ext cx="1104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动态环境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4610100" y="3022997"/>
            <a:ext cx="2990850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6"/>
              </a:lnSpc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事实会过期，行动与结果存在因果关系</a:t>
            </a:r>
            <a:endParaRPr lang="en-US" sz="1425" dirty="0"/>
          </a:p>
        </p:txBody>
      </p:sp>
      <p:sp>
        <p:nvSpPr>
          <p:cNvPr id="13" name="Text 11"/>
          <p:cNvSpPr txBox="1"/>
          <p:nvPr/>
        </p:nvSpPr>
        <p:spPr>
          <a:xfrm>
            <a:off x="4610100" y="4251722"/>
            <a:ext cx="11900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 Reflection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0050" y="2070497"/>
            <a:ext cx="3505200" cy="2667000"/>
          </a:xfrm>
          <a:prstGeom prst="roundRect">
            <a:avLst>
              <a:gd name="adj" fmla="val 6071"/>
            </a:avLst>
          </a:prstGeom>
          <a:solidFill>
            <a:srgbClr val="EED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86750" y="2356247"/>
            <a:ext cx="11049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950" dirty="0"/>
          </a:p>
        </p:txBody>
      </p:sp>
      <p:sp>
        <p:nvSpPr>
          <p:cNvPr id="16" name="Text 14"/>
          <p:cNvSpPr txBox="1"/>
          <p:nvPr/>
        </p:nvSpPr>
        <p:spPr>
          <a:xfrm>
            <a:off x="8286750" y="3022997"/>
            <a:ext cx="30099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轨迹无限增长，低价值经历妨碍复用</a:t>
            </a:r>
            <a:endParaRPr lang="en-US" sz="1425" dirty="0"/>
          </a:p>
        </p:txBody>
      </p:sp>
      <p:sp>
        <p:nvSpPr>
          <p:cNvPr id="17" name="Text 15"/>
          <p:cNvSpPr txBox="1"/>
          <p:nvPr/>
        </p:nvSpPr>
        <p:spPr>
          <a:xfrm>
            <a:off x="8286750" y="4251722"/>
            <a:ext cx="12510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 Experience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4875" y="5975598"/>
            <a:ext cx="5133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论文二按需求组织能力演化，而非规定所有系统必须按固定步骤实施。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7686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论文二的决策公式：全局记忆与当前读取不同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874490"/>
            <a:ext cx="3505200" cy="1524000"/>
          </a:xfrm>
          <a:prstGeom prst="roundRect">
            <a:avLst>
              <a:gd name="adj" fmla="val 8750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300" y="2084040"/>
            <a:ext cx="4826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𝓜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76300" y="2646015"/>
            <a:ext cx="1733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长期保存的全局记忆库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343400" y="1874490"/>
            <a:ext cx="3505200" cy="1524000"/>
          </a:xfrm>
          <a:prstGeom prst="roundRect">
            <a:avLst>
              <a:gd name="adj" fmla="val 8750"/>
            </a:avLst>
          </a:prstGeom>
          <a:solidFill>
            <a:srgbClr val="DCE3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2950" y="2084040"/>
            <a:ext cx="4884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mₜ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52950" y="2626965"/>
            <a:ext cx="212124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当前观察 oₜ 下检索到的部分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8020050" y="1874490"/>
            <a:ext cx="3505200" cy="1524000"/>
          </a:xfrm>
          <a:prstGeom prst="roundRect">
            <a:avLst>
              <a:gd name="adj" fmla="val 8750"/>
            </a:avLst>
          </a:prstGeom>
          <a:solidFill>
            <a:srgbClr val="EEDB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2084040"/>
            <a:ext cx="36046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03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aₜ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626965"/>
            <a:ext cx="2251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在当前上下文中的行动</a:t>
            </a:r>
            <a:endParaRPr lang="en-US" sz="1275" dirty="0"/>
          </a:p>
        </p:txBody>
      </p:sp>
      <p:pic>
        <p:nvPicPr>
          <p:cNvPr id="15" name="Image 0" descr="Rendered as an image because of CSS m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335959"/>
            <a:ext cx="10858500" cy="33069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7" name="Shape 14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4875" y="5975598"/>
            <a:ext cx="47129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存了很多并不代表都要读；真正影响当前决策的是检索到的 mₜ。</a:t>
            </a:r>
            <a:endParaRPr lang="en-US" sz="1275" dirty="0"/>
          </a:p>
        </p:txBody>
      </p:sp>
      <p:sp>
        <p:nvSpPr>
          <p:cNvPr id="19" name="Text 16"/>
          <p:cNvSpPr txBox="1"/>
          <p:nvPr/>
        </p:nvSpPr>
        <p:spPr>
          <a:xfrm>
            <a:off x="666750" y="6374606"/>
            <a:ext cx="15451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 2.1, Eq. (1)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81470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Storage：保留轨迹，也要选合适的组织方式</a:t>
            </a:r>
            <a:endParaRPr lang="en-US" sz="3075" dirty="0"/>
          </a:p>
        </p:txBody>
      </p:sp>
      <p:pic>
        <p:nvPicPr>
          <p:cNvPr id="6" name="Image 0" descr="Rendered as an image because of CSS m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649016"/>
            <a:ext cx="10858500" cy="330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2425154"/>
            <a:ext cx="3505200" cy="3000375"/>
          </a:xfrm>
          <a:prstGeom prst="roundRect">
            <a:avLst>
              <a:gd name="adj" fmla="val 5397"/>
            </a:avLst>
          </a:prstGeom>
          <a:solidFill>
            <a:srgbClr val="DCE5D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23925" y="2672804"/>
            <a:ext cx="74920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</a:t>
            </a:r>
            <a:endParaRPr lang="en-US" sz="1725" b="1" dirty="0"/>
          </a:p>
        </p:txBody>
      </p:sp>
      <p:sp>
        <p:nvSpPr>
          <p:cNvPr id="9" name="Text 6"/>
          <p:cNvSpPr txBox="1"/>
          <p:nvPr/>
        </p:nvSpPr>
        <p:spPr>
          <a:xfrm>
            <a:off x="923925" y="3128963"/>
            <a:ext cx="300990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按顺序保留交互；完整但长程上下文成本高。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425154"/>
            <a:ext cx="3505200" cy="3000375"/>
          </a:xfrm>
          <a:prstGeom prst="roundRect">
            <a:avLst>
              <a:gd name="adj" fmla="val 5397"/>
            </a:avLst>
          </a:prstGeom>
          <a:solidFill>
            <a:srgbClr val="DCE3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00575" y="2672804"/>
            <a:ext cx="7844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</a:t>
            </a:r>
            <a:endParaRPr lang="en-US" sz="1725" b="1" dirty="0"/>
          </a:p>
        </p:txBody>
      </p:sp>
      <p:sp>
        <p:nvSpPr>
          <p:cNvPr id="12" name="Text 9"/>
          <p:cNvSpPr txBox="1"/>
          <p:nvPr/>
        </p:nvSpPr>
        <p:spPr>
          <a:xfrm>
            <a:off x="4600575" y="3128963"/>
            <a:ext cx="300990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用向量索引召回语义相似轨迹；关系和时效需要补充判断。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020050" y="2425154"/>
            <a:ext cx="3505200" cy="3000375"/>
          </a:xfrm>
          <a:prstGeom prst="roundRect">
            <a:avLst>
              <a:gd name="adj" fmla="val 5397"/>
            </a:avLst>
          </a:prstGeom>
          <a:solidFill>
            <a:srgbClr val="EEDBD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7225" y="2672804"/>
            <a:ext cx="12049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Structured</a:t>
            </a:r>
            <a:endParaRPr lang="en-US" sz="1725" b="1" dirty="0"/>
          </a:p>
        </p:txBody>
      </p:sp>
      <p:sp>
        <p:nvSpPr>
          <p:cNvPr id="15" name="Text 12"/>
          <p:cNvSpPr txBox="1"/>
          <p:nvPr/>
        </p:nvSpPr>
        <p:spPr>
          <a:xfrm>
            <a:off x="8277225" y="3128963"/>
            <a:ext cx="3009900" cy="48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表、层级或图保存实体关系；便于追溯和约束。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7" name="Shape 14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4875" y="5975598"/>
            <a:ext cx="4483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的关键是保存“发生过什么”，并使后续检索可行。</a:t>
            </a:r>
            <a:endParaRPr lang="en-US" sz="1275" dirty="0"/>
          </a:p>
        </p:txBody>
      </p:sp>
      <p:sp>
        <p:nvSpPr>
          <p:cNvPr id="19" name="Text 16"/>
          <p:cNvSpPr txBox="1"/>
          <p:nvPr/>
        </p:nvSpPr>
        <p:spPr>
          <a:xfrm>
            <a:off x="666750" y="6374606"/>
            <a:ext cx="213151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Sections 2.2 &amp; 4.1, Eqs. (2)–(3)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43768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Reflection：对一条轨迹做有证据的修正</a:t>
            </a:r>
            <a:endParaRPr lang="en-US" sz="3075" dirty="0"/>
          </a:p>
        </p:txBody>
      </p:sp>
      <p:pic>
        <p:nvPicPr>
          <p:cNvPr id="6" name="Image 0" descr="Rendered as an image because of CSS m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125266"/>
            <a:ext cx="10858500" cy="330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3377654"/>
            <a:ext cx="3901678" cy="1571625"/>
          </a:xfrm>
          <a:prstGeom prst="roundRect">
            <a:avLst>
              <a:gd name="adj" fmla="val 9697"/>
            </a:avLst>
          </a:prstGeom>
          <a:solidFill>
            <a:srgbClr val="DCE5D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6300" y="3625304"/>
            <a:ext cx="5411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 τᵢ</a:t>
            </a:r>
            <a:endParaRPr lang="en-US" sz="1125" dirty="0"/>
          </a:p>
        </p:txBody>
      </p:sp>
      <p:sp>
        <p:nvSpPr>
          <p:cNvPr id="9" name="Text 6"/>
          <p:cNvSpPr txBox="1"/>
          <p:nvPr/>
        </p:nvSpPr>
        <p:spPr>
          <a:xfrm>
            <a:off x="876300" y="4019550"/>
            <a:ext cx="3552304" cy="537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79"/>
              </a:lnSpc>
              <a:buNone/>
            </a:pPr>
            <a:r>
              <a:rPr lang="en-US" sz="15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页面有票 → 提交失败 → 接口返回库存变动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30353" y="3377654"/>
            <a:ext cx="2731145" cy="1571625"/>
          </a:xfrm>
          <a:prstGeom prst="roundRect">
            <a:avLst>
              <a:gd name="adj" fmla="val 9697"/>
            </a:avLst>
          </a:prstGeom>
          <a:solidFill>
            <a:srgbClr val="F3EF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80906" y="3901529"/>
            <a:ext cx="10297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 φ</a:t>
            </a:r>
            <a:endParaRPr lang="en-US" sz="1425" dirty="0"/>
          </a:p>
        </p:txBody>
      </p:sp>
      <p:sp>
        <p:nvSpPr>
          <p:cNvPr id="12" name="Text 9"/>
          <p:cNvSpPr txBox="1"/>
          <p:nvPr/>
        </p:nvSpPr>
        <p:spPr>
          <a:xfrm>
            <a:off x="5224314" y="4172992"/>
            <a:ext cx="174307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4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环境反馈优先于猜测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7623423" y="3377654"/>
            <a:ext cx="3901678" cy="1571625"/>
          </a:xfrm>
          <a:prstGeom prst="roundRect">
            <a:avLst>
              <a:gd name="adj" fmla="val 9697"/>
            </a:avLst>
          </a:prstGeom>
          <a:solidFill>
            <a:srgbClr val="EEDBD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32973" y="3625304"/>
            <a:ext cx="92094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修正记忆 m′ᵢ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7832973" y="4019550"/>
            <a:ext cx="3352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展示库存可能滞后；提交前需再次核验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6750" y="5823198"/>
            <a:ext cx="10858500" cy="52045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7" name="Shape 14"/>
          <p:cNvSpPr/>
          <p:nvPr/>
        </p:nvSpPr>
        <p:spPr>
          <a:xfrm>
            <a:off x="666750" y="5823198"/>
            <a:ext cx="47625" cy="520452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4875" y="5975598"/>
            <a:ext cx="51339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论文讨论自省、环境反馈和协同反思；有外部反馈时，应优先核对它。</a:t>
            </a:r>
            <a:endParaRPr lang="en-US" sz="1275" dirty="0"/>
          </a:p>
        </p:txBody>
      </p:sp>
      <p:sp>
        <p:nvSpPr>
          <p:cNvPr id="19" name="Text 16"/>
          <p:cNvSpPr txBox="1"/>
          <p:nvPr/>
        </p:nvSpPr>
        <p:spPr>
          <a:xfrm>
            <a:off x="666750" y="6374606"/>
            <a:ext cx="189502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Sections 2.2 &amp; 4.2, Eq. (4)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9883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安全案例二：FARMA 伪造 Agent 的历史推理</a:t>
            </a:r>
            <a:endParaRPr lang="en-US" sz="3075" dirty="0"/>
          </a:p>
        </p:txBody>
      </p:sp>
      <p:pic>
        <p:nvPicPr>
          <p:cNvPr id="6" name="Image 0" descr="Rendered as an image because of CSS foreign-ob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338" y="2468314"/>
            <a:ext cx="8023324" cy="21093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5842248"/>
            <a:ext cx="10858500" cy="50140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8" name="Shape 5"/>
          <p:cNvSpPr/>
          <p:nvPr/>
        </p:nvSpPr>
        <p:spPr>
          <a:xfrm>
            <a:off x="666750" y="5842248"/>
            <a:ext cx="47625" cy="501402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04875" y="5985123"/>
            <a:ext cx="902717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攻击前提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MINJA 不同，FARMA 假设攻击者能够写入持久化记忆；被伪造的是 Agent 的“历史推理”，不是外部事实。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66750" y="6374606"/>
            <a:ext cx="53100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攻击图依据 Karamchandani et al., FARMA, Figure 1 与 Section III 重绘；https://arxiv.org/html/2607.05029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815131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具体例子②：“上游已验证”是假造的历史推理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287786"/>
            <a:ext cx="3492401" cy="2476500"/>
          </a:xfrm>
          <a:prstGeom prst="roundRect">
            <a:avLst>
              <a:gd name="adj" fmla="val 6923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44961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真实任务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78250"/>
            <a:ext cx="177045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EHR 病历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8156"/>
            <a:ext cx="250090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本应检查 MRN、字段类型与范围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349651" y="2287786"/>
            <a:ext cx="3492550" cy="2476500"/>
          </a:xfrm>
          <a:prstGeom prst="roundRect">
            <a:avLst>
              <a:gd name="adj" fmla="val 6923"/>
            </a:avLst>
          </a:prstGeom>
          <a:solidFill>
            <a:srgbClr val="EED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7301" y="2544961"/>
            <a:ext cx="15984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伪造的 Agent 日志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97301" y="3378250"/>
            <a:ext cx="23431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“上游已全部验证”</a:t>
            </a:r>
            <a:endParaRPr lang="en-US" sz="1950" dirty="0"/>
          </a:p>
        </p:txBody>
      </p:sp>
      <p:sp>
        <p:nvSpPr>
          <p:cNvPr id="13" name="Text 11"/>
          <p:cNvSpPr txBox="1"/>
          <p:nvPr/>
        </p:nvSpPr>
        <p:spPr>
          <a:xfrm>
            <a:off x="4597301" y="4298156"/>
            <a:ext cx="14097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再验证“不必要”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8032700" y="2287786"/>
            <a:ext cx="3492401" cy="2476500"/>
          </a:xfrm>
          <a:prstGeom prst="roundRect">
            <a:avLst>
              <a:gd name="adj" fmla="val 6923"/>
            </a:avLst>
          </a:prstGeom>
          <a:solidFill>
            <a:srgbClr val="DCE3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80350" y="2544961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被诱导的动作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80350" y="3378250"/>
            <a:ext cx="2490787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跳过检查 → 直接导入</a:t>
            </a:r>
            <a:endParaRPr lang="en-US" sz="1950" dirty="0"/>
          </a:p>
        </p:txBody>
      </p:sp>
      <p:sp>
        <p:nvSpPr>
          <p:cNvPr id="17" name="Text 15"/>
          <p:cNvSpPr txBox="1"/>
          <p:nvPr/>
        </p:nvSpPr>
        <p:spPr>
          <a:xfrm>
            <a:off x="8280350" y="4298156"/>
            <a:ext cx="1733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信任的是伪造“先例”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66750" y="5676900"/>
            <a:ext cx="10858500" cy="666750"/>
          </a:xfrm>
          <a:prstGeom prst="roundRect">
            <a:avLst>
              <a:gd name="adj" fmla="val 17143"/>
            </a:avLst>
          </a:prstGeom>
          <a:solidFill>
            <a:srgbClr val="F3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750" y="5676900"/>
            <a:ext cx="10858500" cy="28575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9723" y="5905500"/>
            <a:ext cx="962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SENTINEL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115991" y="5905500"/>
            <a:ext cx="1657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识别“已验证”声明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830491" y="590550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173391" y="5905500"/>
            <a:ext cx="3113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 Guard 核查证据与日志结构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66750" y="6374606"/>
            <a:ext cx="53362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FARMA 论文 EHR 种子载荷改写；SENTINEL 为同篇论文的实验防御。https://arxiv.org/html/2607.05029</a:t>
            </a:r>
            <a:endParaRPr lang="en-US" sz="825" dirty="0"/>
          </a:p>
        </p:txBody>
      </p:sp>
      <p:sp>
        <p:nvSpPr>
          <p:cNvPr id="25" name="Text 23"/>
          <p:cNvSpPr txBox="1"/>
          <p:nvPr/>
        </p:nvSpPr>
        <p:spPr>
          <a:xfrm>
            <a:off x="4121048" y="3352652"/>
            <a:ext cx="3714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25" dirty="0"/>
          </a:p>
        </p:txBody>
      </p:sp>
      <p:sp>
        <p:nvSpPr>
          <p:cNvPr id="26" name="Text 24"/>
          <p:cNvSpPr txBox="1"/>
          <p:nvPr/>
        </p:nvSpPr>
        <p:spPr>
          <a:xfrm>
            <a:off x="7804102" y="3352652"/>
            <a:ext cx="3714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44587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FARMA 的防御：SENTINEL 检查推理记录</a:t>
            </a:r>
            <a:endParaRPr lang="en-US" sz="3075" dirty="0"/>
          </a:p>
        </p:txBody>
      </p:sp>
      <p:pic>
        <p:nvPicPr>
          <p:cNvPr id="6" name="Image 0" descr="Rendered as an image because of CSS foreign-ob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91" y="2456259"/>
            <a:ext cx="10818019" cy="18987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5607546"/>
            <a:ext cx="10858500" cy="736104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8" name="Shape 5"/>
          <p:cNvSpPr/>
          <p:nvPr/>
        </p:nvSpPr>
        <p:spPr>
          <a:xfrm>
            <a:off x="666750" y="5607546"/>
            <a:ext cx="47625" cy="736104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7250" y="5750421"/>
            <a:ext cx="10520139" cy="44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48"/>
              </a:lnSpc>
              <a:buNone/>
            </a:pPr>
            <a:r>
              <a:rPr lang="en-US" sz="1275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最关键的一层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在论文的 EHR / GPT-4o-mini 消融设置中，移除 Reasoning Guard 后 FARMA 成功率从 0% 回到 100%；自适应改写仍可能绕过检查。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66750" y="6374606"/>
            <a:ext cx="558447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防御图依据 Karamchandani et al., SENTINEL, Figure 2、Sections IV–VI 重绘；https://arxiv.org/html/2607.05029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97049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Experience：从多条轨迹抽象出可迁移规则</a:t>
            </a:r>
            <a:endParaRPr lang="en-US" sz="3075" dirty="0"/>
          </a:p>
        </p:txBody>
      </p:sp>
      <p:pic>
        <p:nvPicPr>
          <p:cNvPr id="6" name="Image 0" descr="Rendered as an image because of CSS ma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077194"/>
            <a:ext cx="10858500" cy="330696"/>
          </a:xfrm>
          <a:prstGeom prst="rect">
            <a:avLst/>
          </a:prstGeom>
        </p:spPr>
      </p:pic>
      <p:pic>
        <p:nvPicPr>
          <p:cNvPr id="7" name="Image 1" descr="Rendered as an image because of CSS mat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3548211"/>
            <a:ext cx="10858500" cy="63609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6750" y="5200650"/>
            <a:ext cx="3555950" cy="500063"/>
          </a:xfrm>
          <a:prstGeom prst="roundRect">
            <a:avLst>
              <a:gd name="adj" fmla="val 19048"/>
            </a:avLst>
          </a:prstGeom>
          <a:solidFill>
            <a:srgbClr val="EEDBD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673126" y="5353050"/>
            <a:ext cx="15430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A：热门车次售罄</a:t>
            </a:r>
            <a:endParaRPr lang="en-US" sz="1125" dirty="0"/>
          </a:p>
        </p:txBody>
      </p:sp>
      <p:sp>
        <p:nvSpPr>
          <p:cNvPr id="10" name="Shape 6"/>
          <p:cNvSpPr/>
          <p:nvPr/>
        </p:nvSpPr>
        <p:spPr>
          <a:xfrm>
            <a:off x="4317950" y="5200650"/>
            <a:ext cx="3555950" cy="500063"/>
          </a:xfrm>
          <a:prstGeom prst="roundRect">
            <a:avLst>
              <a:gd name="adj" fmla="val 19048"/>
            </a:avLst>
          </a:prstGeom>
          <a:solidFill>
            <a:srgbClr val="EEDBD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329833" y="5353050"/>
            <a:ext cx="153218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B：页面库存滞后</a:t>
            </a:r>
            <a:endParaRPr lang="en-US" sz="1125" dirty="0"/>
          </a:p>
        </p:txBody>
      </p:sp>
      <p:sp>
        <p:nvSpPr>
          <p:cNvPr id="12" name="Shape 8"/>
          <p:cNvSpPr/>
          <p:nvPr/>
        </p:nvSpPr>
        <p:spPr>
          <a:xfrm>
            <a:off x="7969151" y="5200650"/>
            <a:ext cx="3556099" cy="500063"/>
          </a:xfrm>
          <a:prstGeom prst="roundRect">
            <a:avLst>
              <a:gd name="adj" fmla="val 19048"/>
            </a:avLst>
          </a:prstGeom>
          <a:solidFill>
            <a:srgbClr val="DCE5D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049494" y="5353050"/>
            <a:ext cx="13952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 C：复核后备选</a:t>
            </a:r>
            <a:endParaRPr lang="en-US" sz="1125" dirty="0"/>
          </a:p>
        </p:txBody>
      </p:sp>
      <p:sp>
        <p:nvSpPr>
          <p:cNvPr id="14" name="Shape 10"/>
          <p:cNvSpPr/>
          <p:nvPr/>
        </p:nvSpPr>
        <p:spPr>
          <a:xfrm>
            <a:off x="666750" y="5795962"/>
            <a:ext cx="10858500" cy="547687"/>
          </a:xfrm>
          <a:prstGeom prst="roundRect">
            <a:avLst>
              <a:gd name="adj" fmla="val 17391"/>
            </a:avLst>
          </a:prstGeom>
          <a:solidFill>
            <a:srgbClr val="DCE3E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82269" y="5957888"/>
            <a:ext cx="302746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 K：先核实时库存，再准备备选车次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662047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跨轨迹抽象：论文列出的四种技术路径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300" y="2429917"/>
            <a:ext cx="1028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对比归纳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76300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比较成功与失败，找出导致结果变化的条件。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424238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DCE3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3787" y="2429917"/>
            <a:ext cx="1028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动作蒸馏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33787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把多步细节压缩为高层操作策略。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6181725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EEDB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91275" y="2429917"/>
            <a:ext cx="1028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代码封装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91275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把重复动作变成可调用的函数或技能。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8939213" y="2172742"/>
            <a:ext cx="2586038" cy="2381250"/>
          </a:xfrm>
          <a:prstGeom prst="roundRect">
            <a:avLst>
              <a:gd name="adj" fmla="val 6000"/>
            </a:avLst>
          </a:prstGeom>
          <a:solidFill>
            <a:srgbClr val="E9E2D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8762" y="2429917"/>
            <a:ext cx="1028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梯度内化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148762" y="2963317"/>
            <a:ext cx="2185988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用多条轨迹更新模型参数，形成内部偏好。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66750" y="5751612"/>
            <a:ext cx="10858500" cy="592038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750" y="5751612"/>
            <a:ext cx="10858500" cy="28575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7250" y="5951637"/>
            <a:ext cx="6915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订票例子：先形成“复核库存”的规则；如果反复稳定有效，可进一步封装成订票前检查流程。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666750" y="6374606"/>
            <a:ext cx="11766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 5.2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862578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显式、隐式与混合经验：不要和 Embedding 混淆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1849636"/>
            <a:ext cx="3505200" cy="1666875"/>
          </a:xfrm>
          <a:prstGeom prst="roundRect">
            <a:avLst>
              <a:gd name="adj" fmla="val 8571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6300" y="2078236"/>
            <a:ext cx="13169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6300" y="2525911"/>
            <a:ext cx="3009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原始内容的索引，用来“找到哪条记忆”。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49636"/>
            <a:ext cx="3505200" cy="1666875"/>
          </a:xfrm>
          <a:prstGeom prst="roundRect">
            <a:avLst>
              <a:gd name="adj" fmla="val 8571"/>
            </a:avLst>
          </a:prstGeom>
          <a:solidFill>
            <a:srgbClr val="DCE3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2950" y="2078236"/>
            <a:ext cx="198626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Latent Experience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552950" y="2525911"/>
            <a:ext cx="3162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推理中的连续经验表示，不一定改模型权重。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20050" y="1849636"/>
            <a:ext cx="3505200" cy="1666875"/>
          </a:xfrm>
          <a:prstGeom prst="roundRect">
            <a:avLst>
              <a:gd name="adj" fmla="val 8571"/>
            </a:avLst>
          </a:prstGeom>
          <a:solidFill>
            <a:srgbClr val="EEDBD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2078236"/>
            <a:ext cx="245730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Parametric Experience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25911"/>
            <a:ext cx="3162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通过参数更新内化策略，改变模型行为倾向。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6750" y="4333875"/>
            <a:ext cx="10858500" cy="2009775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 w="9525">
            <a:solidFill>
              <a:srgbClr val="D8D3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275" y="4343400"/>
            <a:ext cx="10839450" cy="490537"/>
          </a:xfrm>
          <a:prstGeom prst="rect">
            <a:avLst/>
          </a:prstGeom>
          <a:solidFill>
            <a:srgbClr val="DCE5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5825" y="4476750"/>
            <a:ext cx="4381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3864918" y="4476750"/>
            <a:ext cx="762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主要用途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9353996" y="4476750"/>
            <a:ext cx="923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是否改权重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76275" y="4833938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5825" y="4976813"/>
            <a:ext cx="10437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75" dirty="0"/>
          </a:p>
        </p:txBody>
      </p:sp>
      <p:sp>
        <p:nvSpPr>
          <p:cNvPr id="22" name="Text 20"/>
          <p:cNvSpPr txBox="1"/>
          <p:nvPr/>
        </p:nvSpPr>
        <p:spPr>
          <a:xfrm>
            <a:off x="3864918" y="4976813"/>
            <a:ext cx="18954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内容向量化、相似度检索</a:t>
            </a:r>
            <a:endParaRPr lang="en-US" sz="1275" dirty="0"/>
          </a:p>
        </p:txBody>
      </p:sp>
      <p:sp>
        <p:nvSpPr>
          <p:cNvPr id="23" name="Text 21"/>
          <p:cNvSpPr txBox="1"/>
          <p:nvPr/>
        </p:nvSpPr>
        <p:spPr>
          <a:xfrm>
            <a:off x="9353996" y="4976813"/>
            <a:ext cx="2762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676275" y="5334000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5825" y="5476875"/>
            <a:ext cx="15607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Latent Experience</a:t>
            </a:r>
            <a:endParaRPr lang="en-US" sz="1275" dirty="0"/>
          </a:p>
        </p:txBody>
      </p:sp>
      <p:sp>
        <p:nvSpPr>
          <p:cNvPr id="26" name="Text 24"/>
          <p:cNvSpPr txBox="1"/>
          <p:nvPr/>
        </p:nvSpPr>
        <p:spPr>
          <a:xfrm>
            <a:off x="3864918" y="5476875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推理时承载可复用的连续经验状态</a:t>
            </a:r>
            <a:endParaRPr lang="en-US" sz="1275" dirty="0"/>
          </a:p>
        </p:txBody>
      </p:sp>
      <p:sp>
        <p:nvSpPr>
          <p:cNvPr id="27" name="Text 25"/>
          <p:cNvSpPr txBox="1"/>
          <p:nvPr/>
        </p:nvSpPr>
        <p:spPr>
          <a:xfrm>
            <a:off x="9353996" y="5476875"/>
            <a:ext cx="6000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通常否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676275" y="5834063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85825" y="5976938"/>
            <a:ext cx="19247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Parametric Experience</a:t>
            </a:r>
            <a:endParaRPr lang="en-US" sz="1275" dirty="0"/>
          </a:p>
        </p:txBody>
      </p:sp>
      <p:sp>
        <p:nvSpPr>
          <p:cNvPr id="30" name="Text 28"/>
          <p:cNvSpPr txBox="1"/>
          <p:nvPr/>
        </p:nvSpPr>
        <p:spPr>
          <a:xfrm>
            <a:off x="3864918" y="5976938"/>
            <a:ext cx="22193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把经验内化为模型行为或偏好</a:t>
            </a:r>
            <a:endParaRPr lang="en-US" sz="1275" dirty="0"/>
          </a:p>
        </p:txBody>
      </p:sp>
      <p:sp>
        <p:nvSpPr>
          <p:cNvPr id="31" name="Text 29"/>
          <p:cNvSpPr txBox="1"/>
          <p:nvPr/>
        </p:nvSpPr>
        <p:spPr>
          <a:xfrm>
            <a:off x="9353996" y="5976938"/>
            <a:ext cx="2762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275" dirty="0"/>
          </a:p>
        </p:txBody>
      </p:sp>
      <p:sp>
        <p:nvSpPr>
          <p:cNvPr id="32" name="Text 30"/>
          <p:cNvSpPr txBox="1"/>
          <p:nvPr/>
        </p:nvSpPr>
        <p:spPr>
          <a:xfrm>
            <a:off x="666750" y="6374606"/>
            <a:ext cx="25625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 4.3；依据用户 Word 对照表重绘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971951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安全案例三：MemoryGraft 把危险步骤包装成成功经验</a:t>
            </a:r>
            <a:endParaRPr lang="en-US" sz="3075" dirty="0"/>
          </a:p>
        </p:txBody>
      </p:sp>
      <p:pic>
        <p:nvPicPr>
          <p:cNvPr id="6" name="Image 0" descr="Rendered as an image because of CSS foreign-ob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170" y="2596604"/>
            <a:ext cx="9669512" cy="18529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5842248"/>
            <a:ext cx="10858500" cy="501402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8" name="Shape 5"/>
          <p:cNvSpPr/>
          <p:nvPr/>
        </p:nvSpPr>
        <p:spPr>
          <a:xfrm>
            <a:off x="666750" y="5842248"/>
            <a:ext cx="47625" cy="501402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04875" y="5985123"/>
            <a:ext cx="88124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论文结果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共 48 条被检索记录中有 23 条是投毒经验，占 47.9%；这是检索结果的污染比例，不是危险动作实际执行率。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66750" y="6374606"/>
            <a:ext cx="49230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攻击图依据 Srivastava &amp; He, MemoryGraft, Sections 3–5 重绘；https://arxiv.org/html/2512.16962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99370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具体例子③：“成功经验”教 Agent 跳过校验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287786"/>
            <a:ext cx="3492401" cy="2476500"/>
          </a:xfrm>
          <a:prstGeom prst="roundRect">
            <a:avLst>
              <a:gd name="adj" fmla="val 6923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44961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正常问题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11116"/>
            <a:ext cx="3016151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32"/>
              </a:lnSpc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“如何验证 CSV schema？”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8156"/>
            <a:ext cx="14097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应核对列名与类型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349651" y="2287786"/>
            <a:ext cx="3492550" cy="2476500"/>
          </a:xfrm>
          <a:prstGeom prst="roundRect">
            <a:avLst>
              <a:gd name="adj" fmla="val 6923"/>
            </a:avLst>
          </a:prstGeom>
          <a:solidFill>
            <a:srgbClr val="EED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7301" y="2544961"/>
            <a:ext cx="1314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投毒的经验条目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97301" y="3211116"/>
            <a:ext cx="3016300" cy="66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32"/>
              </a:lnSpc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dtype=str；schema_check=skipped</a:t>
            </a:r>
            <a:endParaRPr lang="en-US" sz="1950" dirty="0"/>
          </a:p>
        </p:txBody>
      </p:sp>
      <p:sp>
        <p:nvSpPr>
          <p:cNvPr id="13" name="Text 11"/>
          <p:cNvSpPr txBox="1"/>
          <p:nvPr/>
        </p:nvSpPr>
        <p:spPr>
          <a:xfrm>
            <a:off x="4597301" y="4298156"/>
            <a:ext cx="18305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却标记 safe / validated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8032700" y="2287786"/>
            <a:ext cx="3492401" cy="2476500"/>
          </a:xfrm>
          <a:prstGeom prst="roundRect">
            <a:avLst>
              <a:gd name="adj" fmla="val 6923"/>
            </a:avLst>
          </a:prstGeom>
          <a:solidFill>
            <a:srgbClr val="DCE3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80350" y="2544961"/>
            <a:ext cx="114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检索后的风险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80350" y="3378250"/>
            <a:ext cx="23431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危险步骤进入上下文</a:t>
            </a:r>
            <a:endParaRPr lang="en-US" sz="1950" dirty="0"/>
          </a:p>
        </p:txBody>
      </p:sp>
      <p:sp>
        <p:nvSpPr>
          <p:cNvPr id="17" name="Text 15"/>
          <p:cNvSpPr txBox="1"/>
          <p:nvPr/>
        </p:nvSpPr>
        <p:spPr>
          <a:xfrm>
            <a:off x="8280350" y="4298156"/>
            <a:ext cx="1571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可能被当成成功模板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666750" y="5676900"/>
            <a:ext cx="10858500" cy="666750"/>
          </a:xfrm>
          <a:prstGeom prst="roundRect">
            <a:avLst>
              <a:gd name="adj" fmla="val 17143"/>
            </a:avLst>
          </a:prstGeom>
          <a:solidFill>
            <a:srgbClr val="F3EF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6750" y="5676900"/>
            <a:ext cx="10858500" cy="28575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86150" y="5905500"/>
            <a:ext cx="80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作者提出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419600" y="5905500"/>
            <a:ext cx="2000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真实执行结果验真与签名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77000" y="590550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19900" y="5905500"/>
            <a:ext cx="2000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按安全约束重排检索结果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66750" y="6374606"/>
            <a:ext cx="52778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MemoryGraft 论文投毒条目改写；防御是论文提案，尚无效果实验。https://arxiv.org/html/2512.16962</a:t>
            </a:r>
            <a:endParaRPr lang="en-US" sz="825" dirty="0"/>
          </a:p>
        </p:txBody>
      </p:sp>
      <p:sp>
        <p:nvSpPr>
          <p:cNvPr id="25" name="Text 23"/>
          <p:cNvSpPr txBox="1"/>
          <p:nvPr/>
        </p:nvSpPr>
        <p:spPr>
          <a:xfrm>
            <a:off x="4121048" y="3352652"/>
            <a:ext cx="3714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25" dirty="0"/>
          </a:p>
        </p:txBody>
      </p:sp>
      <p:sp>
        <p:nvSpPr>
          <p:cNvPr id="26" name="Text 24"/>
          <p:cNvSpPr txBox="1"/>
          <p:nvPr/>
        </p:nvSpPr>
        <p:spPr>
          <a:xfrm>
            <a:off x="7804102" y="3352652"/>
            <a:ext cx="3714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857130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MemoryGraft 的防御：经验入库验真与检索约束</a:t>
            </a:r>
            <a:endParaRPr lang="en-US" sz="3075" dirty="0"/>
          </a:p>
        </p:txBody>
      </p:sp>
      <p:pic>
        <p:nvPicPr>
          <p:cNvPr id="6" name="Image 0" descr="Rendered as an image because of CSS foreign-ob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582168"/>
            <a:ext cx="10858500" cy="16470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750" y="5607546"/>
            <a:ext cx="10858500" cy="736104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8" name="Shape 5"/>
          <p:cNvSpPr/>
          <p:nvPr/>
        </p:nvSpPr>
        <p:spPr>
          <a:xfrm>
            <a:off x="666750" y="5607546"/>
            <a:ext cx="47625" cy="736104"/>
          </a:xfrm>
          <a:prstGeom prst="rect">
            <a:avLst/>
          </a:prstGeom>
          <a:solidFill>
            <a:srgbClr val="C58B7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7250" y="5750421"/>
            <a:ext cx="10496550" cy="44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48"/>
              </a:lnSpc>
              <a:buNone/>
            </a:pPr>
            <a:r>
              <a:rPr lang="en-US" sz="1275" b="1" dirty="0">
                <a:solidFill>
                  <a:srgbClr val="A06D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证据级别</a:t>
            </a: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验真、签名与安全重排是 MemoryGraft 作者提出的防御设计；原论文没有实验验证其效果，尤其不能把“签名有效”当作“内容安全”。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66750" y="6374606"/>
            <a:ext cx="566752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防御图依据 Srivastava &amp; He, MemoryGraft, Section 6 Potential Defense 重绘；https://arxiv.org/html/2512.16962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636150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两篇论文合看：设计维度 × 能力层次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686050"/>
            <a:ext cx="10858500" cy="3657600"/>
          </a:xfrm>
          <a:prstGeom prst="roundRect">
            <a:avLst>
              <a:gd name="adj" fmla="val 3906"/>
            </a:avLst>
          </a:prstGeom>
          <a:noFill/>
          <a:ln w="9525">
            <a:solidFill>
              <a:srgbClr val="D8D3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275" y="2695575"/>
            <a:ext cx="10839450" cy="552450"/>
          </a:xfrm>
          <a:prstGeom prst="rect">
            <a:avLst/>
          </a:prstGeom>
          <a:solidFill>
            <a:srgbClr val="879D89"/>
          </a:solidFill>
          <a:ln/>
        </p:spPr>
      </p:sp>
      <p:sp>
        <p:nvSpPr>
          <p:cNvPr id="8" name="Shape 6"/>
          <p:cNvSpPr/>
          <p:nvPr/>
        </p:nvSpPr>
        <p:spPr>
          <a:xfrm>
            <a:off x="676275" y="3238500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9" name="Shape 7"/>
          <p:cNvSpPr/>
          <p:nvPr/>
        </p:nvSpPr>
        <p:spPr>
          <a:xfrm>
            <a:off x="2597051" y="2695575"/>
            <a:ext cx="9525" cy="5429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0" name="Shape 8"/>
          <p:cNvSpPr/>
          <p:nvPr/>
        </p:nvSpPr>
        <p:spPr>
          <a:xfrm>
            <a:off x="5566767" y="2695575"/>
            <a:ext cx="9525" cy="5429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7551" y="2864197"/>
            <a:ext cx="7069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36484" y="2695575"/>
            <a:ext cx="9525" cy="5429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757267" y="2864197"/>
            <a:ext cx="887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26984" y="2864197"/>
            <a:ext cx="9459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275" y="4010025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6" name="Shape 14"/>
          <p:cNvSpPr/>
          <p:nvPr/>
        </p:nvSpPr>
        <p:spPr>
          <a:xfrm>
            <a:off x="2597051" y="3248025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7250" y="3526185"/>
            <a:ext cx="41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66767" y="3248025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87551" y="3526185"/>
            <a:ext cx="1485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保存同次、跨次轨迹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36484" y="3248025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57267" y="3526185"/>
            <a:ext cx="1485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加入结果与环境反馈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726984" y="3526185"/>
            <a:ext cx="1485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汇集多条可比较轨迹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275" y="4019550"/>
            <a:ext cx="10839450" cy="771525"/>
          </a:xfrm>
          <a:prstGeom prst="rect">
            <a:avLst/>
          </a:prstGeom>
          <a:solidFill>
            <a:srgbClr val="F1EEE8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275" y="4781550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5" name="Shape 23"/>
          <p:cNvSpPr/>
          <p:nvPr/>
        </p:nvSpPr>
        <p:spPr>
          <a:xfrm>
            <a:off x="2597051" y="4019550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7250" y="4297710"/>
            <a:ext cx="41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66767" y="4019550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87551" y="4297710"/>
            <a:ext cx="1790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文本、向量、结构化记录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36484" y="4019550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57267" y="4297710"/>
            <a:ext cx="1333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修正后的记忆单元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26984" y="4297710"/>
            <a:ext cx="1948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规则、技能、latent 或参数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275" y="5553075"/>
            <a:ext cx="10839450" cy="9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3" name="Shape 31"/>
          <p:cNvSpPr/>
          <p:nvPr/>
        </p:nvSpPr>
        <p:spPr>
          <a:xfrm>
            <a:off x="2597051" y="4791075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7250" y="5069235"/>
            <a:ext cx="41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66767" y="4791075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787551" y="5069235"/>
            <a:ext cx="876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写入与检索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36484" y="4791075"/>
            <a:ext cx="9525" cy="762000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57267" y="5069235"/>
            <a:ext cx="1333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评价、纠错、更新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26984" y="5069235"/>
            <a:ext cx="1333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抽象、复用、内化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76275" y="5562600"/>
            <a:ext cx="10839450" cy="771525"/>
          </a:xfrm>
          <a:prstGeom prst="rect">
            <a:avLst/>
          </a:prstGeom>
          <a:solidFill>
            <a:srgbClr val="F1EEE8"/>
          </a:solidFill>
          <a:ln/>
        </p:spPr>
      </p:sp>
      <p:sp>
        <p:nvSpPr>
          <p:cNvPr id="41" name="Shape 39"/>
          <p:cNvSpPr/>
          <p:nvPr/>
        </p:nvSpPr>
        <p:spPr>
          <a:xfrm>
            <a:off x="2597051" y="5562600"/>
            <a:ext cx="9525" cy="771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57250" y="5845522"/>
            <a:ext cx="723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安全检查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566767" y="5562600"/>
            <a:ext cx="9525" cy="771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787551" y="5845522"/>
            <a:ext cx="876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来源与时效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36484" y="5562600"/>
            <a:ext cx="9525" cy="771525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757267" y="5845522"/>
            <a:ext cx="876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反馈与归因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726984" y="5845522"/>
            <a:ext cx="1181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适用范围与回退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76867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后续方向一：记忆调用与工作记忆的安全边界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914650"/>
            <a:ext cx="3505200" cy="3429000"/>
          </a:xfrm>
          <a:prstGeom prst="roundRect">
            <a:avLst>
              <a:gd name="adj" fmla="val 4444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162300"/>
            <a:ext cx="24744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论文提出：Active Memory Perception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87055"/>
            <a:ext cx="20002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只在需要时读取记忆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88904"/>
            <a:ext cx="3028950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研究问题：Controller 怎样同时判断任务相关性、来源可信度和时效？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14400" y="5505450"/>
            <a:ext cx="3009900" cy="9525"/>
          </a:xfrm>
          <a:prstGeom prst="rect">
            <a:avLst/>
          </a:prstGeom>
          <a:solidFill>
            <a:srgbClr val="C9C6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676900"/>
            <a:ext cx="307943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可测：攻击记忆召回率、误拒正常记忆率、任务成功率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343400" y="2914650"/>
            <a:ext cx="3505200" cy="3429000"/>
          </a:xfrm>
          <a:prstGeom prst="roundRect">
            <a:avLst>
              <a:gd name="adj" fmla="val 4444"/>
            </a:avLst>
          </a:prstGeom>
          <a:solidFill>
            <a:srgbClr val="DCE3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1050" y="3162300"/>
            <a:ext cx="29401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论文提出：Organization of Working Memory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91050" y="3587055"/>
            <a:ext cx="28384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限制临时上下文中的污染传播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91050" y="4088904"/>
            <a:ext cx="3028950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研究问题：哪些历史决策节点可进入当前工作区？何时撤销已失效的推断？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4591050" y="5505450"/>
            <a:ext cx="3009900" cy="9525"/>
          </a:xfrm>
          <a:prstGeom prst="rect">
            <a:avLst/>
          </a:prstGeom>
          <a:solidFill>
            <a:srgbClr val="C9C6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1050" y="5676900"/>
            <a:ext cx="307943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可测：污染进入上下文的比例、错误决策持续步数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8020050" y="2914650"/>
            <a:ext cx="3505200" cy="3429000"/>
          </a:xfrm>
          <a:prstGeom prst="roundRect">
            <a:avLst>
              <a:gd name="adj" fmla="val 4444"/>
            </a:avLst>
          </a:prstGeom>
          <a:solidFill>
            <a:srgbClr val="EEDB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67700" y="3162300"/>
            <a:ext cx="255746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论文提出：Distributed Shared Memory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7700" y="3587055"/>
            <a:ext cx="25568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Agent 共享时保留来源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267700" y="4088904"/>
            <a:ext cx="3073209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研究问题：一个 Agent 写入的“共识”被其他 Agent 读取前，如何验证其证据链？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8267700" y="5719763"/>
            <a:ext cx="3009900" cy="9525"/>
          </a:xfrm>
          <a:prstGeom prst="rect">
            <a:avLst/>
          </a:prstGeom>
          <a:solidFill>
            <a:srgbClr val="C9C6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67700" y="5891213"/>
            <a:ext cx="24705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可测：跨 Agent 传播范围、验证开销</a:t>
            </a:r>
            <a:endParaRPr lang="en-US" sz="1125" dirty="0"/>
          </a:p>
        </p:txBody>
      </p:sp>
      <p:sp>
        <p:nvSpPr>
          <p:cNvPr id="24" name="Text 22"/>
          <p:cNvSpPr txBox="1"/>
          <p:nvPr/>
        </p:nvSpPr>
        <p:spPr>
          <a:xfrm>
            <a:off x="666750" y="6374606"/>
            <a:ext cx="32902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 6；安全问题与指标为基于论文方向的研究延伸。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62378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后续方向二：经验、模态与长期纠错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914650"/>
            <a:ext cx="3505200" cy="3429000"/>
          </a:xfrm>
          <a:prstGeom prst="roundRect">
            <a:avLst>
              <a:gd name="adj" fmla="val 4444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162300"/>
            <a:ext cx="244316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论文提出：Benchmark for Experience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87055"/>
            <a:ext cx="3028950" cy="55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27"/>
              </a:lnSpc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评测“学会了什么”，也评测</a:t>
            </a:r>
            <a:r>
              <a:rPr lang="en-US" sz="1650" b="1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“学</a:t>
            </a:r>
            <a:r>
              <a:rPr lang="zh-CN" altLang="en-US" sz="1650" b="1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</a:t>
            </a:r>
            <a:r>
              <a:rPr lang="en-US" sz="1650" b="1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了什么</a:t>
            </a: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71677"/>
            <a:ext cx="3028950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跨任务注入少量错误轨迹，观察规则抽象、迁移与回退。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14400" y="5505450"/>
            <a:ext cx="3009900" cy="9525"/>
          </a:xfrm>
          <a:prstGeom prst="rect">
            <a:avLst/>
          </a:prstGeom>
          <a:solidFill>
            <a:srgbClr val="C9C6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676900"/>
            <a:ext cx="307943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可测：攻击成功率、干净任务效用、撤销后的残留影响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343400" y="2914650"/>
            <a:ext cx="3505200" cy="3429000"/>
          </a:xfrm>
          <a:prstGeom prst="roundRect">
            <a:avLst>
              <a:gd name="adj" fmla="val 4444"/>
            </a:avLst>
          </a:prstGeom>
          <a:solidFill>
            <a:srgbClr val="DCE3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1050" y="3162300"/>
            <a:ext cx="210085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论文提出：Multimodal Memory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91050" y="3587055"/>
            <a:ext cx="26289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核对不同模态的时间与来源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91050" y="4088904"/>
            <a:ext cx="3028950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图像、页面文本和工具回执若互相矛盾，如何防止摘要抹平冲突？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4591050" y="5719763"/>
            <a:ext cx="3009900" cy="9525"/>
          </a:xfrm>
          <a:prstGeom prst="rect">
            <a:avLst/>
          </a:prstGeom>
          <a:solidFill>
            <a:srgbClr val="C9C6B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1050" y="5891213"/>
            <a:ext cx="24003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可测：跨模态冲突检出率、误归因率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8020050" y="2914650"/>
            <a:ext cx="3505200" cy="3429000"/>
          </a:xfrm>
          <a:prstGeom prst="roundRect">
            <a:avLst>
              <a:gd name="adj" fmla="val 4444"/>
            </a:avLst>
          </a:prstGeom>
          <a:solidFill>
            <a:srgbClr val="EEDBD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67700" y="3162300"/>
            <a:ext cx="28252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论文一提出：Lifelong / Parametric Memory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7700" y="3587055"/>
            <a:ext cx="26289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让内化经验可审计、可撤销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267700" y="4088904"/>
            <a:ext cx="3028950" cy="44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8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区分单条文本删除、技能库回滚与参数更新后的行为修复。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8267700" y="5719763"/>
            <a:ext cx="3009900" cy="9525"/>
          </a:xfrm>
          <a:prstGeom prst="rect">
            <a:avLst/>
          </a:prstGeom>
          <a:solidFill>
            <a:srgbClr val="C9C6B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67700" y="5891213"/>
            <a:ext cx="2971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可测：回滚成功率、未受影响任务的性能变化</a:t>
            </a:r>
            <a:endParaRPr lang="en-US" sz="1125" dirty="0"/>
          </a:p>
        </p:txBody>
      </p:sp>
      <p:sp>
        <p:nvSpPr>
          <p:cNvPr id="24" name="Text 22"/>
          <p:cNvSpPr txBox="1"/>
          <p:nvPr/>
        </p:nvSpPr>
        <p:spPr>
          <a:xfrm>
            <a:off x="666750" y="6374606"/>
            <a:ext cx="419040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25" dirty="0">
                <a:solidFill>
                  <a:srgbClr val="8F91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al., Section 6；Zhang et al., Section 8；安全评测设计为基于两篇综述的延伸。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23900" y="6524625"/>
            <a:ext cx="14928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智能体记忆机制 · 从存储到经验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1348740" y="6524625"/>
            <a:ext cx="2336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kern="0" spc="30" dirty="0">
                <a:solidFill>
                  <a:srgbClr val="8E81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447675"/>
            <a:ext cx="738589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75" b="1" kern="0" spc="-6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结论：记忆需要在安全与有效之间找到平衡</a:t>
            </a:r>
            <a:endParaRPr lang="en-US" sz="3075" dirty="0"/>
          </a:p>
        </p:txBody>
      </p:sp>
      <p:sp>
        <p:nvSpPr>
          <p:cNvPr id="6" name="Shape 4"/>
          <p:cNvSpPr/>
          <p:nvPr/>
        </p:nvSpPr>
        <p:spPr>
          <a:xfrm>
            <a:off x="666750" y="2304455"/>
            <a:ext cx="3505200" cy="2095500"/>
          </a:xfrm>
          <a:prstGeom prst="roundRect">
            <a:avLst>
              <a:gd name="adj" fmla="val 7727"/>
            </a:avLst>
          </a:prstGeom>
          <a:solidFill>
            <a:srgbClr val="DCE5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4875" y="2561630"/>
            <a:ext cx="3412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58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04875" y="3003500"/>
            <a:ext cx="8001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04875" y="3432125"/>
            <a:ext cx="3048000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来源、形式、操作、评估构成记忆系统的设计坐标。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343400" y="2304455"/>
            <a:ext cx="3505200" cy="2095500"/>
          </a:xfrm>
          <a:prstGeom prst="roundRect">
            <a:avLst>
              <a:gd name="adj" fmla="val 7727"/>
            </a:avLst>
          </a:prstGeom>
          <a:solidFill>
            <a:srgbClr val="DCE3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525" y="2561630"/>
            <a:ext cx="36730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58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1525" y="3003500"/>
            <a:ext cx="8001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81525" y="3432125"/>
            <a:ext cx="3048000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保存轨迹，Reflection 修正轨迹，Experience 抽象多条轨迹。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8020050" y="2304455"/>
            <a:ext cx="3505200" cy="2095500"/>
          </a:xfrm>
          <a:prstGeom prst="roundRect">
            <a:avLst>
              <a:gd name="adj" fmla="val 7727"/>
            </a:avLst>
          </a:prstGeom>
          <a:solidFill>
            <a:srgbClr val="EED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58175" y="2561630"/>
            <a:ext cx="36686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58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58175" y="3003500"/>
            <a:ext cx="1028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安全启示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58175" y="3432125"/>
            <a:ext cx="3048000" cy="45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37"/>
              </a:lnSpc>
              <a:buNone/>
            </a:pPr>
            <a:r>
              <a:rPr lang="en-US" sz="1275" dirty="0">
                <a:solidFill>
                  <a:srgbClr val="303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错误若被长期保存、反思和内化，影响会从一次任务扩大到未来任务。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666750" y="5910262"/>
            <a:ext cx="1087755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Zhang et al. </a:t>
            </a:r>
            <a:r>
              <a:rPr lang="en-US" sz="1125" i="1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Survey on the Memory Mechanism of Large Language Model based Agents</a:t>
            </a: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ACM TOIS 2025</a:t>
            </a:r>
            <a:br/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Luo et al. </a:t>
            </a:r>
            <a:r>
              <a:rPr lang="en-US" sz="1125" i="1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Storage to Experience</a:t>
            </a:r>
            <a:r>
              <a:rPr lang="en-US" sz="1125" dirty="0">
                <a:solidFill>
                  <a:srgbClr val="6871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Findings of ACL 2026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5880</Words>
  <Application>Microsoft Office PowerPoint</Application>
  <PresentationFormat>宽屏</PresentationFormat>
  <Paragraphs>466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等线</vt:lpstr>
      <vt:lpstr>Microsoft YaHei</vt:lpstr>
      <vt:lpstr>Arial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智能体记忆机制：从存储到经验</dc:title>
  <dc:subject>人工智能安全课程双论文汇报</dc:subject>
  <dc:creator>人工智能安全课程</dc:creator>
  <cp:lastModifiedBy>坤 鲁</cp:lastModifiedBy>
  <cp:revision>37</cp:revision>
  <dcterms:created xsi:type="dcterms:W3CDTF">2026-10-08T10:37:34Z</dcterms:created>
  <dcterms:modified xsi:type="dcterms:W3CDTF">2026-10-08T12:06:02Z</dcterms:modified>
</cp:coreProperties>
</file>